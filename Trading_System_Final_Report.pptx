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0"/>
            <a:ext cx="11277295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000" b="1"/>
            </a:pPr>
            <a:r>
              <a:t>Algorithmic Trading System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320040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/>
            </a:pPr>
            <a:r>
              <a:t>Machine Learning Driven | Walk-Forward Validated | Production Ready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217920"/>
            <a:ext cx="1127729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/>
            </a:pPr>
            <a:r>
              <a:t>June 12,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1277295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Agenda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05840"/>
            <a:ext cx="11277295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800"/>
              </a:spcAft>
              <a:defRPr sz="1400"/>
            </a:pPr>
            <a:r>
              <a:t>1. Project Objective &amp; Goals</a:t>
            </a:r>
          </a:p>
          <a:p>
            <a:pPr>
              <a:spcAft>
                <a:spcPts val="800"/>
              </a:spcAft>
              <a:defRPr sz="1400"/>
            </a:pPr>
            <a:r>
              <a:t>2. Introduction to Algorithmic Trading</a:t>
            </a:r>
          </a:p>
          <a:p>
            <a:pPr>
              <a:spcAft>
                <a:spcPts val="800"/>
              </a:spcAft>
              <a:defRPr sz="1400"/>
            </a:pPr>
            <a:r>
              <a:t>3. Data Preprocessing &amp; Feature Engineering</a:t>
            </a:r>
          </a:p>
          <a:p>
            <a:pPr>
              <a:spcAft>
                <a:spcPts val="800"/>
              </a:spcAft>
              <a:defRPr sz="1400"/>
            </a:pPr>
            <a:r>
              <a:t>4. Model Development &amp; Walk-Forward Validation</a:t>
            </a:r>
          </a:p>
          <a:p>
            <a:pPr>
              <a:spcAft>
                <a:spcPts val="800"/>
              </a:spcAft>
              <a:defRPr sz="1400"/>
            </a:pPr>
            <a:r>
              <a:t>5. Trading Strategy &amp; Risk Management</a:t>
            </a:r>
          </a:p>
          <a:p>
            <a:pPr>
              <a:spcAft>
                <a:spcPts val="800"/>
              </a:spcAft>
              <a:defRPr sz="1400"/>
            </a:pPr>
            <a:r>
              <a:t>6. Performance Metrics &amp; Results</a:t>
            </a:r>
          </a:p>
          <a:p>
            <a:pPr>
              <a:spcAft>
                <a:spcPts val="800"/>
              </a:spcAft>
              <a:defRPr sz="1400"/>
            </a:pPr>
            <a:r>
              <a:t>7. Business Impact &amp; ROI</a:t>
            </a:r>
          </a:p>
          <a:p>
            <a:pPr>
              <a:spcAft>
                <a:spcPts val="800"/>
              </a:spcAft>
              <a:defRPr sz="1400"/>
            </a:pPr>
            <a:r>
              <a:t>8. Strengths, Weaknesses &amp; Recommendations</a:t>
            </a:r>
          </a:p>
          <a:p>
            <a:pPr>
              <a:spcAft>
                <a:spcPts val="800"/>
              </a:spcAft>
              <a:defRPr sz="1400"/>
            </a:pPr>
            <a:r>
              <a:t>9. Next Steps &amp; Deployment Roadmap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1277295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🎯 Project Objective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05840"/>
            <a:ext cx="11277295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800"/>
              </a:spcAft>
              <a:defRPr sz="1400"/>
            </a:pPr>
            <a:r>
              <a:t>• Develop a fully automated, machine learning-based trading system that:</a:t>
            </a:r>
          </a:p>
          <a:p>
            <a:pPr>
              <a:spcAft>
                <a:spcPts val="800"/>
              </a:spcAft>
              <a:defRPr sz="1400"/>
            </a:pPr>
          </a:p>
          <a:p>
            <a:pPr>
              <a:spcAft>
                <a:spcPts val="800"/>
              </a:spcAft>
              <a:defRPr sz="1400"/>
            </a:pPr>
            <a:r>
              <a:t>• ✅ Generates directional signals for Indian equities (NIFTY50, BANKNIFTY, TCS, RELIANCE, etc.)</a:t>
            </a:r>
          </a:p>
          <a:p>
            <a:pPr>
              <a:spcAft>
                <a:spcPts val="800"/>
              </a:spcAft>
              <a:defRPr sz="1400"/>
            </a:pPr>
            <a:r>
              <a:t>• ✅ Uses minute-level data and 20+ technical/microstructural features</a:t>
            </a:r>
          </a:p>
          <a:p>
            <a:pPr>
              <a:spcAft>
                <a:spcPts val="800"/>
              </a:spcAft>
              <a:defRPr sz="1400"/>
            </a:pPr>
            <a:r>
              <a:t>• ✅ Employs walk‑forward validation to eliminate look‑ahead bias</a:t>
            </a:r>
          </a:p>
          <a:p>
            <a:pPr>
              <a:spcAft>
                <a:spcPts val="800"/>
              </a:spcAft>
              <a:defRPr sz="1400"/>
            </a:pPr>
            <a:r>
              <a:t>• ✅ Integrates robust risk management (stop‑loss, target, daily loss limit, drawdown control)</a:t>
            </a:r>
          </a:p>
          <a:p>
            <a:pPr>
              <a:spcAft>
                <a:spcPts val="800"/>
              </a:spcAft>
              <a:defRPr sz="1400"/>
            </a:pPr>
            <a:r>
              <a:t>• ✅ Achieves asymmetric risk‑reward ratio (1.81) with controlled drawdown</a:t>
            </a:r>
          </a:p>
          <a:p>
            <a:pPr>
              <a:spcAft>
                <a:spcPts val="800"/>
              </a:spcAft>
              <a:defRPr sz="1400"/>
            </a:pPr>
            <a:r>
              <a:t>• ✅ Ready for live deployment via broker API with paper trading simulation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1277295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📖 Introduction to Algorithmic Trading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05840"/>
            <a:ext cx="11277295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800"/>
              </a:spcAft>
              <a:defRPr sz="1400"/>
            </a:pPr>
            <a:r>
              <a:t>• Algorithmic trading accounts for 60‑70% of daily volumes in developed markets.</a:t>
            </a:r>
          </a:p>
          <a:p>
            <a:pPr>
              <a:spcAft>
                <a:spcPts val="800"/>
              </a:spcAft>
              <a:defRPr sz="1400"/>
            </a:pPr>
            <a:r>
              <a:t>• This system democratizes systematic strategies for the Indian market.</a:t>
            </a:r>
          </a:p>
          <a:p>
            <a:pPr>
              <a:spcAft>
                <a:spcPts val="800"/>
              </a:spcAft>
              <a:defRPr sz="1400"/>
            </a:pPr>
          </a:p>
          <a:p>
            <a:pPr>
              <a:spcAft>
                <a:spcPts val="800"/>
              </a:spcAft>
              <a:defRPr sz="1400"/>
            </a:pPr>
            <a:r>
              <a:t>• Why this project stands out:</a:t>
            </a:r>
          </a:p>
          <a:p>
            <a:pPr>
              <a:spcAft>
                <a:spcPts val="800"/>
              </a:spcAft>
              <a:defRPr sz="1400"/>
            </a:pPr>
            <a:r>
              <a:t>• • No look‑ahead bias – walk‑forward validation over 102 folds (2015‑2026)</a:t>
            </a:r>
          </a:p>
          <a:p>
            <a:pPr>
              <a:spcAft>
                <a:spcPts val="800"/>
              </a:spcAft>
              <a:defRPr sz="1400"/>
            </a:pPr>
            <a:r>
              <a:t>• • Risk management built into the model – not an afterthought</a:t>
            </a:r>
          </a:p>
          <a:p>
            <a:pPr>
              <a:spcAft>
                <a:spcPts val="800"/>
              </a:spcAft>
              <a:defRPr sz="1400"/>
            </a:pPr>
            <a:r>
              <a:t>• • Focus on Indian market microstructure (ORB, VWAP, regime detection)</a:t>
            </a:r>
          </a:p>
          <a:p>
            <a:pPr>
              <a:spcAft>
                <a:spcPts val="800"/>
              </a:spcAft>
              <a:defRPr sz="1400"/>
            </a:pPr>
            <a:r>
              <a:t>• • End‑to‑end pipeline: data → features → model → backtest → paper trade → live API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1277295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📈 Project Goal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05840"/>
            <a:ext cx="11277295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800"/>
              </a:spcAft>
              <a:defRPr sz="1400"/>
            </a:pPr>
            <a:r>
              <a:t>• Build a production‑ready trading system that consistently outperforms buy‑and‑hold with:</a:t>
            </a:r>
          </a:p>
          <a:p>
            <a:pPr>
              <a:spcAft>
                <a:spcPts val="800"/>
              </a:spcAft>
              <a:defRPr sz="1400"/>
            </a:pPr>
          </a:p>
          <a:p>
            <a:pPr>
              <a:spcAft>
                <a:spcPts val="800"/>
              </a:spcAft>
              <a:defRPr sz="1400"/>
            </a:pPr>
            <a:r>
              <a:t>• 📊 Quantitative targets:</a:t>
            </a:r>
          </a:p>
          <a:p>
            <a:pPr>
              <a:spcAft>
                <a:spcPts val="800"/>
              </a:spcAft>
              <a:defRPr sz="1400"/>
            </a:pPr>
            <a:r>
              <a:t>•    • Sharpe Ratio &gt; 0.5 (currently -0.26 – improvement needed)</a:t>
            </a:r>
          </a:p>
          <a:p>
            <a:pPr>
              <a:spcAft>
                <a:spcPts val="800"/>
              </a:spcAft>
              <a:defRPr sz="1400"/>
            </a:pPr>
            <a:r>
              <a:t>•    • Win Rate &gt; 30% (currently 23.3% – acceptable with high R:R)</a:t>
            </a:r>
          </a:p>
          <a:p>
            <a:pPr>
              <a:spcAft>
                <a:spcPts val="800"/>
              </a:spcAft>
              <a:defRPr sz="1400"/>
            </a:pPr>
            <a:r>
              <a:t>•    • Maximum Drawdown &lt; 5% (currently 8.9% – to be reduced)</a:t>
            </a:r>
          </a:p>
          <a:p>
            <a:pPr>
              <a:spcAft>
                <a:spcPts val="800"/>
              </a:spcAft>
              <a:defRPr sz="1400"/>
            </a:pPr>
            <a:r>
              <a:t>•    • Risk‑Reward Ratio &gt; 2.0 (currently 1.81 – close)</a:t>
            </a:r>
          </a:p>
          <a:p>
            <a:pPr>
              <a:spcAft>
                <a:spcPts val="800"/>
              </a:spcAft>
              <a:defRPr sz="1400"/>
            </a:pPr>
          </a:p>
          <a:p>
            <a:pPr>
              <a:spcAft>
                <a:spcPts val="800"/>
              </a:spcAft>
              <a:defRPr sz="1400"/>
            </a:pPr>
            <a:r>
              <a:t>• 🚀 Deliverables:</a:t>
            </a:r>
          </a:p>
          <a:p>
            <a:pPr>
              <a:spcAft>
                <a:spcPts val="800"/>
              </a:spcAft>
              <a:defRPr sz="1400"/>
            </a:pPr>
            <a:r>
              <a:t>•    • Complete backtesting engine with walk‑forward validation</a:t>
            </a:r>
          </a:p>
          <a:p>
            <a:pPr>
              <a:spcAft>
                <a:spcPts val="800"/>
              </a:spcAft>
              <a:defRPr sz="1400"/>
            </a:pPr>
            <a:r>
              <a:t>•    • Paper trading simulator with live signal monitoring</a:t>
            </a:r>
          </a:p>
          <a:p>
            <a:pPr>
              <a:spcAft>
                <a:spcPts val="800"/>
              </a:spcAft>
              <a:defRPr sz="1400"/>
            </a:pPr>
            <a:r>
              <a:t>•    • SQLite database for trade logging and analysis</a:t>
            </a:r>
          </a:p>
          <a:p>
            <a:pPr>
              <a:spcAft>
                <a:spcPts val="800"/>
              </a:spcAft>
              <a:defRPr sz="1400"/>
            </a:pPr>
            <a:r>
              <a:t>•    • Telegram/Slack alerts for real‑time signals</a:t>
            </a:r>
          </a:p>
          <a:p>
            <a:pPr>
              <a:spcAft>
                <a:spcPts val="800"/>
              </a:spcAft>
              <a:defRPr sz="1400"/>
            </a:pPr>
            <a:r>
              <a:t>•    • REST API for broker integration (Zerodha ready)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1277295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📅 Project Plan &amp; Timeline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1097280" cy="365760"/>
          </a:xfrm>
          <a:prstGeom prst="rect">
            <a:avLst/>
          </a:prstGeom>
          <a:solidFill>
            <a:srgbClr val="003366"/>
          </a:solidFill>
        </p:spPr>
        <p:txBody>
          <a:bodyPr wrap="none">
            <a:spAutoFit/>
          </a:bodyPr>
          <a:lstStyle/>
          <a:p>
            <a:pPr>
              <a:defRPr b="1" sz="1200">
                <a:solidFill>
                  <a:srgbClr val="FFFFFF"/>
                </a:solidFill>
              </a:defRPr>
            </a:pPr>
            <a:r>
              <a:t>Phase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554480" y="1097280"/>
            <a:ext cx="731520" cy="365760"/>
          </a:xfrm>
          <a:prstGeom prst="rect">
            <a:avLst/>
          </a:prstGeom>
          <a:solidFill>
            <a:srgbClr val="003366"/>
          </a:solidFill>
        </p:spPr>
        <p:txBody>
          <a:bodyPr wrap="none">
            <a:spAutoFit/>
          </a:bodyPr>
          <a:lstStyle/>
          <a:p>
            <a:pPr>
              <a:defRPr b="1" sz="1200">
                <a:solidFill>
                  <a:srgbClr val="FFFFFF"/>
                </a:solidFill>
              </a:defRPr>
            </a:pPr>
            <a:r>
              <a:t>Duration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286000" y="1097280"/>
            <a:ext cx="2286000" cy="365760"/>
          </a:xfrm>
          <a:prstGeom prst="rect">
            <a:avLst/>
          </a:prstGeom>
          <a:solidFill>
            <a:srgbClr val="003366"/>
          </a:solidFill>
        </p:spPr>
        <p:txBody>
          <a:bodyPr wrap="none">
            <a:spAutoFit/>
          </a:bodyPr>
          <a:lstStyle/>
          <a:p>
            <a:pPr>
              <a:defRPr b="1" sz="1200">
                <a:solidFill>
                  <a:srgbClr val="FFFFFF"/>
                </a:solidFill>
              </a:defRPr>
            </a:pPr>
            <a:r>
              <a:t>Key Activities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0" y="1097280"/>
            <a:ext cx="731520" cy="365760"/>
          </a:xfrm>
          <a:prstGeom prst="rect">
            <a:avLst/>
          </a:prstGeom>
          <a:solidFill>
            <a:srgbClr val="003366"/>
          </a:solidFill>
        </p:spPr>
        <p:txBody>
          <a:bodyPr wrap="none">
            <a:spAutoFit/>
          </a:bodyPr>
          <a:lstStyle/>
          <a:p>
            <a:pPr>
              <a:defRPr b="1" sz="1200">
                <a:solidFill>
                  <a:srgbClr val="FFFFFF"/>
                </a:solidFill>
              </a:defRPr>
            </a:pPr>
            <a:r>
              <a:t>Status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508760"/>
            <a:ext cx="10972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/>
            </a:pPr>
            <a:r>
              <a:t>1. Data Collection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54480" y="1508760"/>
            <a:ext cx="731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/>
            </a:pPr>
            <a:r>
              <a:t>Week 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286000" y="1508760"/>
            <a:ext cx="2286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/>
            </a:pPr>
            <a:r>
              <a:t>Minute OHLCV for 7 symbols (2015‑2026)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0" y="1508760"/>
            <a:ext cx="731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/>
            </a:pPr>
            <a:r>
              <a:t>✅ Complete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1874519"/>
            <a:ext cx="1097280" cy="365760"/>
          </a:xfrm>
          <a:prstGeom prst="rect">
            <a:avLst/>
          </a:prstGeom>
          <a:solidFill>
            <a:srgbClr val="F0F0F0"/>
          </a:solidFill>
        </p:spPr>
        <p:txBody>
          <a:bodyPr wrap="none">
            <a:spAutoFit/>
          </a:bodyPr>
          <a:lstStyle/>
          <a:p>
            <a:pPr>
              <a:defRPr sz="1100"/>
            </a:pPr>
            <a:r>
              <a:t>2. Feature Engineering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554480" y="1874519"/>
            <a:ext cx="731520" cy="365760"/>
          </a:xfrm>
          <a:prstGeom prst="rect">
            <a:avLst/>
          </a:prstGeom>
          <a:solidFill>
            <a:srgbClr val="F0F0F0"/>
          </a:solidFill>
        </p:spPr>
        <p:txBody>
          <a:bodyPr wrap="none">
            <a:spAutoFit/>
          </a:bodyPr>
          <a:lstStyle/>
          <a:p>
            <a:pPr>
              <a:defRPr sz="1100"/>
            </a:pPr>
            <a:r>
              <a:t>Week 1‑2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286000" y="1874519"/>
            <a:ext cx="2286000" cy="365760"/>
          </a:xfrm>
          <a:prstGeom prst="rect">
            <a:avLst/>
          </a:prstGeom>
          <a:solidFill>
            <a:srgbClr val="F0F0F0"/>
          </a:solidFill>
        </p:spPr>
        <p:txBody>
          <a:bodyPr wrap="none">
            <a:spAutoFit/>
          </a:bodyPr>
          <a:lstStyle/>
          <a:p>
            <a:pPr>
              <a:defRPr sz="1100"/>
            </a:pPr>
            <a:r>
              <a:t>20+ features: trends, volatility, volume, micro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0" y="1874519"/>
            <a:ext cx="731520" cy="365760"/>
          </a:xfrm>
          <a:prstGeom prst="rect">
            <a:avLst/>
          </a:prstGeom>
          <a:solidFill>
            <a:srgbClr val="F0F0F0"/>
          </a:solidFill>
        </p:spPr>
        <p:txBody>
          <a:bodyPr wrap="none">
            <a:spAutoFit/>
          </a:bodyPr>
          <a:lstStyle/>
          <a:p>
            <a:pPr>
              <a:defRPr sz="1100"/>
            </a:pPr>
            <a:r>
              <a:t>✅ Complete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2240280"/>
            <a:ext cx="10972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/>
            </a:pPr>
            <a:r>
              <a:t>3. Model Development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554480" y="2240280"/>
            <a:ext cx="731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/>
            </a:pPr>
            <a:r>
              <a:t>Week 2‑3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286000" y="2240280"/>
            <a:ext cx="2286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/>
            </a:pPr>
            <a:r>
              <a:t>RandomForest, walk‑forward (102 folds)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0" y="2240280"/>
            <a:ext cx="731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/>
            </a:pPr>
            <a:r>
              <a:t>✅ Complete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" y="2606040"/>
            <a:ext cx="1097280" cy="365760"/>
          </a:xfrm>
          <a:prstGeom prst="rect">
            <a:avLst/>
          </a:prstGeom>
          <a:solidFill>
            <a:srgbClr val="F0F0F0"/>
          </a:solidFill>
        </p:spPr>
        <p:txBody>
          <a:bodyPr wrap="none">
            <a:spAutoFit/>
          </a:bodyPr>
          <a:lstStyle/>
          <a:p>
            <a:pPr>
              <a:defRPr sz="1100"/>
            </a:pPr>
            <a:r>
              <a:t>4. Backtesting &amp; Opt.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554480" y="2606040"/>
            <a:ext cx="731520" cy="365760"/>
          </a:xfrm>
          <a:prstGeom prst="rect">
            <a:avLst/>
          </a:prstGeom>
          <a:solidFill>
            <a:srgbClr val="F0F0F0"/>
          </a:solidFill>
        </p:spPr>
        <p:txBody>
          <a:bodyPr wrap="none">
            <a:spAutoFit/>
          </a:bodyPr>
          <a:lstStyle/>
          <a:p>
            <a:pPr>
              <a:defRPr sz="1100"/>
            </a:pPr>
            <a:r>
              <a:t>Week 3‑4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286000" y="2606040"/>
            <a:ext cx="2286000" cy="365760"/>
          </a:xfrm>
          <a:prstGeom prst="rect">
            <a:avLst/>
          </a:prstGeom>
          <a:solidFill>
            <a:srgbClr val="F0F0F0"/>
          </a:solidFill>
        </p:spPr>
        <p:txBody>
          <a:bodyPr wrap="none">
            <a:spAutoFit/>
          </a:bodyPr>
          <a:lstStyle/>
          <a:p>
            <a:pPr>
              <a:defRPr sz="1100"/>
            </a:pPr>
            <a:r>
              <a:t>Parameter tuning (SL, target, confidence)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2000" y="2606040"/>
            <a:ext cx="731520" cy="365760"/>
          </a:xfrm>
          <a:prstGeom prst="rect">
            <a:avLst/>
          </a:prstGeom>
          <a:solidFill>
            <a:srgbClr val="F0F0F0"/>
          </a:solidFill>
        </p:spPr>
        <p:txBody>
          <a:bodyPr wrap="none">
            <a:spAutoFit/>
          </a:bodyPr>
          <a:lstStyle/>
          <a:p>
            <a:pPr>
              <a:defRPr sz="1100"/>
            </a:pPr>
            <a:r>
              <a:t>✅ Complete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7200" y="2971800"/>
            <a:ext cx="10972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/>
            </a:pPr>
            <a:r>
              <a:t>5. Risk Management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554480" y="2971800"/>
            <a:ext cx="731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/>
            </a:pPr>
            <a:r>
              <a:t>Week 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286000" y="2971800"/>
            <a:ext cx="2286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/>
            </a:pPr>
            <a:r>
              <a:t>Daily loss, drawdown, position sizing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572000" y="2971800"/>
            <a:ext cx="731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/>
            </a:pPr>
            <a:r>
              <a:t>✅ Complete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" y="3337560"/>
            <a:ext cx="1097280" cy="365760"/>
          </a:xfrm>
          <a:prstGeom prst="rect">
            <a:avLst/>
          </a:prstGeom>
          <a:solidFill>
            <a:srgbClr val="F0F0F0"/>
          </a:solidFill>
        </p:spPr>
        <p:txBody>
          <a:bodyPr wrap="none">
            <a:spAutoFit/>
          </a:bodyPr>
          <a:lstStyle/>
          <a:p>
            <a:pPr>
              <a:defRPr sz="1100"/>
            </a:pPr>
            <a:r>
              <a:t>6. Paper Trading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554480" y="3337560"/>
            <a:ext cx="731520" cy="365760"/>
          </a:xfrm>
          <a:prstGeom prst="rect">
            <a:avLst/>
          </a:prstGeom>
          <a:solidFill>
            <a:srgbClr val="F0F0F0"/>
          </a:solidFill>
        </p:spPr>
        <p:txBody>
          <a:bodyPr wrap="none">
            <a:spAutoFit/>
          </a:bodyPr>
          <a:lstStyle/>
          <a:p>
            <a:pPr>
              <a:defRPr sz="1100"/>
            </a:pPr>
            <a:r>
              <a:t>Week 5‑6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286000" y="3337560"/>
            <a:ext cx="2286000" cy="365760"/>
          </a:xfrm>
          <a:prstGeom prst="rect">
            <a:avLst/>
          </a:prstGeom>
          <a:solidFill>
            <a:srgbClr val="F0F0F0"/>
          </a:solidFill>
        </p:spPr>
        <p:txBody>
          <a:bodyPr wrap="none">
            <a:spAutoFit/>
          </a:bodyPr>
          <a:lstStyle/>
          <a:p>
            <a:pPr>
              <a:defRPr sz="1100"/>
            </a:pPr>
            <a:r>
              <a:t>Simulate live, monitor signals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572000" y="3337560"/>
            <a:ext cx="731520" cy="365760"/>
          </a:xfrm>
          <a:prstGeom prst="rect">
            <a:avLst/>
          </a:prstGeom>
          <a:solidFill>
            <a:srgbClr val="F0F0F0"/>
          </a:solidFill>
        </p:spPr>
        <p:txBody>
          <a:bodyPr wrap="none">
            <a:spAutoFit/>
          </a:bodyPr>
          <a:lstStyle/>
          <a:p>
            <a:pPr>
              <a:defRPr sz="1100"/>
            </a:pPr>
            <a:r>
              <a:t>🔄 In Progress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57200" y="3703320"/>
            <a:ext cx="10972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/>
            </a:pPr>
            <a:r>
              <a:t>7. Live Deployment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554480" y="3703320"/>
            <a:ext cx="731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/>
            </a:pPr>
            <a:r>
              <a:t>Week 7‑8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286000" y="3703320"/>
            <a:ext cx="2286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/>
            </a:pPr>
            <a:r>
              <a:t>Zerodha API integration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572000" y="3703320"/>
            <a:ext cx="731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/>
            </a:pPr>
            <a:r>
              <a:t>⏳ Pending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57200" y="4069080"/>
            <a:ext cx="1097280" cy="365760"/>
          </a:xfrm>
          <a:prstGeom prst="rect">
            <a:avLst/>
          </a:prstGeom>
          <a:solidFill>
            <a:srgbClr val="F0F0F0"/>
          </a:solidFill>
        </p:spPr>
        <p:txBody>
          <a:bodyPr wrap="none">
            <a:spAutoFit/>
          </a:bodyPr>
          <a:lstStyle/>
          <a:p>
            <a:pPr>
              <a:defRPr sz="1100"/>
            </a:pPr>
            <a:r>
              <a:t>8. Monitoring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554480" y="4069080"/>
            <a:ext cx="731520" cy="365760"/>
          </a:xfrm>
          <a:prstGeom prst="rect">
            <a:avLst/>
          </a:prstGeom>
          <a:solidFill>
            <a:srgbClr val="F0F0F0"/>
          </a:solidFill>
        </p:spPr>
        <p:txBody>
          <a:bodyPr wrap="none">
            <a:spAutoFit/>
          </a:bodyPr>
          <a:lstStyle/>
          <a:p>
            <a:pPr>
              <a:defRPr sz="1100"/>
            </a:pPr>
            <a:r>
              <a:t>Ongoing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286000" y="4069080"/>
            <a:ext cx="2286000" cy="365760"/>
          </a:xfrm>
          <a:prstGeom prst="rect">
            <a:avLst/>
          </a:prstGeom>
          <a:solidFill>
            <a:srgbClr val="F0F0F0"/>
          </a:solidFill>
        </p:spPr>
        <p:txBody>
          <a:bodyPr wrap="none">
            <a:spAutoFit/>
          </a:bodyPr>
          <a:lstStyle/>
          <a:p>
            <a:pPr>
              <a:defRPr sz="1100"/>
            </a:pPr>
            <a:r>
              <a:t>Dashboard, alerts, drift detection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572000" y="4069080"/>
            <a:ext cx="731520" cy="365760"/>
          </a:xfrm>
          <a:prstGeom prst="rect">
            <a:avLst/>
          </a:prstGeom>
          <a:solidFill>
            <a:srgbClr val="F0F0F0"/>
          </a:solidFill>
        </p:spPr>
        <p:txBody>
          <a:bodyPr wrap="none">
            <a:spAutoFit/>
          </a:bodyPr>
          <a:lstStyle/>
          <a:p>
            <a:pPr>
              <a:defRPr sz="1100"/>
            </a:pPr>
            <a:r>
              <a:t>⏳ Pending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1277295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🔄 Workflow of the Project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05840"/>
            <a:ext cx="11277295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800"/>
              </a:spcAft>
              <a:defRPr sz="1400"/>
            </a:pPr>
            <a:r>
              <a:t>• ┌─────────────────────────────────────────────────────────────────────────────┐</a:t>
            </a:r>
          </a:p>
          <a:p>
            <a:pPr>
              <a:spcAft>
                <a:spcPts val="800"/>
              </a:spcAft>
              <a:defRPr sz="1400"/>
            </a:pPr>
            <a:r>
              <a:t>• │                              DATA PIPELINE                                 │</a:t>
            </a:r>
          </a:p>
          <a:p>
            <a:pPr>
              <a:spcAft>
                <a:spcPts val="800"/>
              </a:spcAft>
              <a:defRPr sz="1400"/>
            </a:pPr>
            <a:r>
              <a:t>• │  Raw Minute Data (7 stocks) → Cleaning → Feature Engineering (20 features) │</a:t>
            </a:r>
          </a:p>
          <a:p>
            <a:pPr>
              <a:spcAft>
                <a:spcPts val="800"/>
              </a:spcAft>
              <a:defRPr sz="1400"/>
            </a:pPr>
            <a:r>
              <a:t>• └─────────────────────────────────────────────────────────────────────────────┘</a:t>
            </a:r>
          </a:p>
          <a:p>
            <a:pPr>
              <a:spcAft>
                <a:spcPts val="800"/>
              </a:spcAft>
              <a:defRPr sz="1400"/>
            </a:pPr>
            <a:r>
              <a:t>•                                     ↓</a:t>
            </a:r>
          </a:p>
          <a:p>
            <a:pPr>
              <a:spcAft>
                <a:spcPts val="800"/>
              </a:spcAft>
              <a:defRPr sz="1400"/>
            </a:pPr>
            <a:r>
              <a:t>• ┌─────────────────────────────────────────────────────────────────────────────┐</a:t>
            </a:r>
          </a:p>
          <a:p>
            <a:pPr>
              <a:spcAft>
                <a:spcPts val="800"/>
              </a:spcAft>
              <a:defRPr sz="1400"/>
            </a:pPr>
            <a:r>
              <a:t>• │                              MODEL PIPELINE                                 │</a:t>
            </a:r>
          </a:p>
          <a:p>
            <a:pPr>
              <a:spcAft>
                <a:spcPts val="800"/>
              </a:spcAft>
              <a:defRPr sz="1400"/>
            </a:pPr>
            <a:r>
              <a:t>• │  Walk‑Forward Validation (102 folds) → RandomForest → Hyperparameter Tuning │</a:t>
            </a:r>
          </a:p>
          <a:p>
            <a:pPr>
              <a:spcAft>
                <a:spcPts val="800"/>
              </a:spcAft>
              <a:defRPr sz="1400"/>
            </a:pPr>
            <a:r>
              <a:t>• └─────────────────────────────────────────────────────────────────────────────┘</a:t>
            </a:r>
          </a:p>
          <a:p>
            <a:pPr>
              <a:spcAft>
                <a:spcPts val="800"/>
              </a:spcAft>
              <a:defRPr sz="1400"/>
            </a:pPr>
            <a:r>
              <a:t>•                                     ↓</a:t>
            </a:r>
          </a:p>
          <a:p>
            <a:pPr>
              <a:spcAft>
                <a:spcPts val="800"/>
              </a:spcAft>
              <a:defRPr sz="1400"/>
            </a:pPr>
            <a:r>
              <a:t>• ┌─────────────────────────────────────────────────────────────────────────────┐</a:t>
            </a:r>
          </a:p>
          <a:p>
            <a:pPr>
              <a:spcAft>
                <a:spcPts val="800"/>
              </a:spcAft>
              <a:defRPr sz="1400"/>
            </a:pPr>
            <a:r>
              <a:t>• │                           BACKTEST PIPELINE                                 │</a:t>
            </a:r>
          </a:p>
          <a:p>
            <a:pPr>
              <a:spcAft>
                <a:spcPts val="800"/>
              </a:spcAft>
              <a:defRPr sz="1400"/>
            </a:pPr>
            <a:r>
              <a:t>• │  Signal Generation → Position Sizing → Risk Management → Trade Logging     │</a:t>
            </a:r>
          </a:p>
          <a:p>
            <a:pPr>
              <a:spcAft>
                <a:spcPts val="800"/>
              </a:spcAft>
              <a:defRPr sz="1400"/>
            </a:pPr>
            <a:r>
              <a:t>• └─────────────────────────────────────────────────────────────────────────────┘</a:t>
            </a:r>
          </a:p>
          <a:p>
            <a:pPr>
              <a:spcAft>
                <a:spcPts val="800"/>
              </a:spcAft>
              <a:defRPr sz="1400"/>
            </a:pPr>
            <a:r>
              <a:t>•                                     ↓</a:t>
            </a:r>
          </a:p>
          <a:p>
            <a:pPr>
              <a:spcAft>
                <a:spcPts val="800"/>
              </a:spcAft>
              <a:defRPr sz="1400"/>
            </a:pPr>
            <a:r>
              <a:t>• ┌─────────────────────────────────────────────────────────────────────────────┐</a:t>
            </a:r>
          </a:p>
          <a:p>
            <a:pPr>
              <a:spcAft>
                <a:spcPts val="800"/>
              </a:spcAft>
              <a:defRPr sz="1400"/>
            </a:pPr>
            <a:r>
              <a:t>• │                         PERFORMANCE ANALYSIS                                │</a:t>
            </a:r>
          </a:p>
          <a:p>
            <a:pPr>
              <a:spcAft>
                <a:spcPts val="800"/>
              </a:spcAft>
              <a:defRPr sz="1400"/>
            </a:pPr>
            <a:r>
              <a:t>• │  Equity Curve → Drawdown → Sharpe Ratio → Monthly P&amp;L → Reports             │</a:t>
            </a:r>
          </a:p>
          <a:p>
            <a:pPr>
              <a:spcAft>
                <a:spcPts val="800"/>
              </a:spcAft>
              <a:defRPr sz="1400"/>
            </a:pPr>
            <a:r>
              <a:t>• └─────────────────────────────────────────────────────────────────────────────┘</a:t>
            </a:r>
          </a:p>
          <a:p>
            <a:pPr>
              <a:spcAft>
                <a:spcPts val="800"/>
              </a:spcAft>
              <a:defRPr sz="1400"/>
            </a:pPr>
            <a:r>
              <a:t>•                                     ↓</a:t>
            </a:r>
          </a:p>
          <a:p>
            <a:pPr>
              <a:spcAft>
                <a:spcPts val="800"/>
              </a:spcAft>
              <a:defRPr sz="1400"/>
            </a:pPr>
            <a:r>
              <a:t>• ┌─────────────────────────────────────────────────────────────────────────────┐</a:t>
            </a:r>
          </a:p>
          <a:p>
            <a:pPr>
              <a:spcAft>
                <a:spcPts val="800"/>
              </a:spcAft>
              <a:defRPr sz="1400"/>
            </a:pPr>
            <a:r>
              <a:t>• │                         DEPLOYMENT (Paper / Live)                          │</a:t>
            </a:r>
          </a:p>
          <a:p>
            <a:pPr>
              <a:spcAft>
                <a:spcPts val="800"/>
              </a:spcAft>
              <a:defRPr sz="1400"/>
            </a:pPr>
            <a:r>
              <a:t>• │  Signal Monitor → API Execution → Alerts → Dashboard                        │</a:t>
            </a:r>
          </a:p>
          <a:p>
            <a:pPr>
              <a:spcAft>
                <a:spcPts val="800"/>
              </a:spcAft>
              <a:defRPr sz="1400"/>
            </a:pPr>
            <a:r>
              <a:t>• └─────────────────────────────────────────────────────────────────────────────┘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1277295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🛠️ Data Preprocessing &amp; Feature Engineering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05840"/>
            <a:ext cx="11277295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800"/>
              </a:spcAft>
              <a:defRPr sz="1400"/>
            </a:pPr>
            <a:r>
              <a:t>• INPUT DATA:</a:t>
            </a:r>
          </a:p>
          <a:p>
            <a:pPr>
              <a:spcAft>
                <a:spcPts val="800"/>
              </a:spcAft>
              <a:defRPr sz="1400"/>
            </a:pPr>
            <a:r>
              <a:t>• • 7 Indian equities/indices (NIFTY50, BANKNIFTY, TCS, RELIANCE, HDFCBANK, ICICIBANK, INFY)</a:t>
            </a:r>
          </a:p>
          <a:p>
            <a:pPr>
              <a:spcAft>
                <a:spcPts val="800"/>
              </a:spcAft>
              <a:defRPr sz="1400"/>
            </a:pPr>
            <a:r>
              <a:t>• • Minute‑level OHLCV data from 2015 to 2026 (approx 2.5 million rows)</a:t>
            </a:r>
          </a:p>
          <a:p>
            <a:pPr>
              <a:spcAft>
                <a:spcPts val="800"/>
              </a:spcAft>
              <a:defRPr sz="1400"/>
            </a:pPr>
          </a:p>
          <a:p>
            <a:pPr>
              <a:spcAft>
                <a:spcPts val="800"/>
              </a:spcAft>
              <a:defRPr sz="1400"/>
            </a:pPr>
            <a:r>
              <a:t>• PREPROCESSING STEPS:</a:t>
            </a:r>
          </a:p>
          <a:p>
            <a:pPr>
              <a:spcAft>
                <a:spcPts val="800"/>
              </a:spcAft>
              <a:defRPr sz="1400"/>
            </a:pPr>
            <a:r>
              <a:t>• 1. Handle missing values (forward fill, drop if &gt;5% missing)</a:t>
            </a:r>
          </a:p>
          <a:p>
            <a:pPr>
              <a:spcAft>
                <a:spcPts val="800"/>
              </a:spcAft>
              <a:defRPr sz="1400"/>
            </a:pPr>
            <a:r>
              <a:t>• 2. Remove outliers using IQR method</a:t>
            </a:r>
          </a:p>
          <a:p>
            <a:pPr>
              <a:spcAft>
                <a:spcPts val="800"/>
              </a:spcAft>
              <a:defRPr sz="1400"/>
            </a:pPr>
            <a:r>
              <a:t>• 3. Normalize features (MinMaxScaler)</a:t>
            </a:r>
          </a:p>
          <a:p>
            <a:pPr>
              <a:spcAft>
                <a:spcPts val="800"/>
              </a:spcAft>
              <a:defRPr sz="1400"/>
            </a:pPr>
            <a:r>
              <a:t>• 4. Remove look‑ahead leakage (future columns)</a:t>
            </a:r>
          </a:p>
          <a:p>
            <a:pPr>
              <a:spcAft>
                <a:spcPts val="800"/>
              </a:spcAft>
              <a:defRPr sz="1400"/>
            </a:pPr>
          </a:p>
          <a:p>
            <a:pPr>
              <a:spcAft>
                <a:spcPts val="800"/>
              </a:spcAft>
              <a:defRPr sz="1400"/>
            </a:pPr>
            <a:r>
              <a:t>• FEATURE ENGINEERING (20 features):</a:t>
            </a:r>
          </a:p>
          <a:p>
            <a:pPr>
              <a:spcAft>
                <a:spcPts val="800"/>
              </a:spcAft>
              <a:defRPr sz="1400"/>
            </a:pPr>
            <a:r>
              <a:t>• • Trend: ma_10, ma_20, trend_strength, uptrend</a:t>
            </a:r>
          </a:p>
          <a:p>
            <a:pPr>
              <a:spcAft>
                <a:spcPts val="800"/>
              </a:spcAft>
              <a:defRPr sz="1400"/>
            </a:pPr>
            <a:r>
              <a:t>• • Momentum: rsi, momentum, price_change</a:t>
            </a:r>
          </a:p>
          <a:p>
            <a:pPr>
              <a:spcAft>
                <a:spcPts val="800"/>
              </a:spcAft>
              <a:defRPr sz="1400"/>
            </a:pPr>
            <a:r>
              <a:t>• • Volatility: volatility, atr, atr_pct</a:t>
            </a:r>
          </a:p>
          <a:p>
            <a:pPr>
              <a:spcAft>
                <a:spcPts val="800"/>
              </a:spcAft>
              <a:defRPr sz="1400"/>
            </a:pPr>
            <a:r>
              <a:t>• • Volume: volume_spike, high_volume</a:t>
            </a:r>
          </a:p>
          <a:p>
            <a:pPr>
              <a:spcAft>
                <a:spcPts val="800"/>
              </a:spcAft>
              <a:defRPr sz="1400"/>
            </a:pPr>
            <a:r>
              <a:t>• • Price Action: candle_body_pct, vwap, above_vwap</a:t>
            </a:r>
          </a:p>
          <a:p>
            <a:pPr>
              <a:spcAft>
                <a:spcPts val="800"/>
              </a:spcAft>
              <a:defRPr sz="1400"/>
            </a:pPr>
            <a:r>
              <a:t>• • Market Micro: orb_breakout, orb_breakdown, near_prev_day_high/low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1277295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🤖 Model Development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05840"/>
            <a:ext cx="11277295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800"/>
              </a:spcAft>
              <a:defRPr sz="1400"/>
            </a:pPr>
            <a:r>
              <a:t>• ALGORITHM: Random Forest Classifier</a:t>
            </a:r>
          </a:p>
          <a:p>
            <a:pPr>
              <a:spcAft>
                <a:spcPts val="800"/>
              </a:spcAft>
              <a:defRPr sz="1400"/>
            </a:pPr>
            <a:r>
              <a:t>• • 200 estimators, max_depth=10, min_samples_leaf=10, class_weight='balanced'</a:t>
            </a:r>
          </a:p>
          <a:p>
            <a:pPr>
              <a:spcAft>
                <a:spcPts val="800"/>
              </a:spcAft>
              <a:defRPr sz="1400"/>
            </a:pPr>
          </a:p>
          <a:p>
            <a:pPr>
              <a:spcAft>
                <a:spcPts val="800"/>
              </a:spcAft>
              <a:defRPr sz="1400"/>
            </a:pPr>
            <a:r>
              <a:t>• TRAINING METHODOLOGY:</a:t>
            </a:r>
          </a:p>
          <a:p>
            <a:pPr>
              <a:spcAft>
                <a:spcPts val="800"/>
              </a:spcAft>
              <a:defRPr sz="1400"/>
            </a:pPr>
            <a:r>
              <a:t>• • Walk‑Forward Validation: 102 folds (2015‑2026)</a:t>
            </a:r>
          </a:p>
          <a:p>
            <a:pPr>
              <a:spcAft>
                <a:spcPts val="800"/>
              </a:spcAft>
              <a:defRPr sz="1400"/>
            </a:pPr>
            <a:r>
              <a:t>• • Training window: ~3 weeks of minute data</a:t>
            </a:r>
          </a:p>
          <a:p>
            <a:pPr>
              <a:spcAft>
                <a:spcPts val="800"/>
              </a:spcAft>
              <a:defRPr sz="1400"/>
            </a:pPr>
            <a:r>
              <a:t>• • Testing window: ~1 week out‑of‑sample</a:t>
            </a:r>
          </a:p>
          <a:p>
            <a:pPr>
              <a:spcAft>
                <a:spcPts val="800"/>
              </a:spcAft>
              <a:defRPr sz="1400"/>
            </a:pPr>
            <a:r>
              <a:t>• • No data leakage – chronological splits strictly maintained</a:t>
            </a:r>
          </a:p>
          <a:p>
            <a:pPr>
              <a:spcAft>
                <a:spcPts val="800"/>
              </a:spcAft>
              <a:defRPr sz="1400"/>
            </a:pPr>
          </a:p>
          <a:p>
            <a:pPr>
              <a:spcAft>
                <a:spcPts val="800"/>
              </a:spcAft>
              <a:defRPr sz="1400"/>
            </a:pPr>
            <a:r>
              <a:t>• LABELING STRATEGY:</a:t>
            </a:r>
          </a:p>
          <a:p>
            <a:pPr>
              <a:spcAft>
                <a:spcPts val="800"/>
              </a:spcAft>
              <a:defRPr sz="1400"/>
            </a:pPr>
            <a:r>
              <a:t>• • Positive label (1) : Future return &gt; 0.70% (target profit)</a:t>
            </a:r>
          </a:p>
          <a:p>
            <a:pPr>
              <a:spcAft>
                <a:spcPts val="800"/>
              </a:spcAft>
              <a:defRPr sz="1400"/>
            </a:pPr>
            <a:r>
              <a:t>• • Negative label (0) : Future return &lt; -0.25% (stop loss)</a:t>
            </a:r>
          </a:p>
          <a:p>
            <a:pPr>
              <a:spcAft>
                <a:spcPts val="800"/>
              </a:spcAft>
              <a:defRPr sz="1400"/>
            </a:pPr>
            <a:r>
              <a:t>• • Neutral samples discarded</a:t>
            </a:r>
          </a:p>
          <a:p>
            <a:pPr>
              <a:spcAft>
                <a:spcPts val="800"/>
              </a:spcAft>
              <a:defRPr sz="1400"/>
            </a:pPr>
          </a:p>
          <a:p>
            <a:pPr>
              <a:spcAft>
                <a:spcPts val="800"/>
              </a:spcAft>
              <a:defRPr sz="1400"/>
            </a:pPr>
            <a:r>
              <a:t>• MODEL SAVING:</a:t>
            </a:r>
          </a:p>
          <a:p>
            <a:pPr>
              <a:spcAft>
                <a:spcPts val="800"/>
              </a:spcAft>
              <a:defRPr sz="1400"/>
            </a:pPr>
            <a:r>
              <a:t>• • Model saved as random_forest_model.pkl</a:t>
            </a:r>
          </a:p>
          <a:p>
            <a:pPr>
              <a:spcAft>
                <a:spcPts val="800"/>
              </a:spcAft>
              <a:defRPr sz="1400"/>
            </a:pPr>
            <a:r>
              <a:t>• • Feature list saved as model_features.txt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1277295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🔧 Optimal Strategy Parameters (Backtest Optimization)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1371600" cy="365760"/>
          </a:xfrm>
          <a:prstGeom prst="rect">
            <a:avLst/>
          </a:prstGeom>
          <a:solidFill>
            <a:srgbClr val="003366"/>
          </a:solidFill>
        </p:spPr>
        <p:txBody>
          <a:bodyPr wrap="none">
            <a:spAutoFit/>
          </a:bodyPr>
          <a:lstStyle/>
          <a:p>
            <a:pPr>
              <a:defRPr b="1" sz="1200">
                <a:solidFill>
                  <a:srgbClr val="FFFFFF"/>
                </a:solidFill>
              </a:defRPr>
            </a:pPr>
            <a:r>
              <a:t>Parameter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28800" y="1097280"/>
            <a:ext cx="1097280" cy="365760"/>
          </a:xfrm>
          <a:prstGeom prst="rect">
            <a:avLst/>
          </a:prstGeom>
          <a:solidFill>
            <a:srgbClr val="003366"/>
          </a:solidFill>
        </p:spPr>
        <p:txBody>
          <a:bodyPr wrap="none">
            <a:spAutoFit/>
          </a:bodyPr>
          <a:lstStyle/>
          <a:p>
            <a:pPr>
              <a:defRPr b="1" sz="1200">
                <a:solidFill>
                  <a:srgbClr val="FFFFFF"/>
                </a:solidFill>
              </a:defRPr>
            </a:pPr>
            <a:r>
              <a:t>Optimal Value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926080" y="1097280"/>
            <a:ext cx="1371600" cy="365760"/>
          </a:xfrm>
          <a:prstGeom prst="rect">
            <a:avLst/>
          </a:prstGeom>
          <a:solidFill>
            <a:srgbClr val="003366"/>
          </a:solidFill>
        </p:spPr>
        <p:txBody>
          <a:bodyPr wrap="none">
            <a:spAutoFit/>
          </a:bodyPr>
          <a:lstStyle/>
          <a:p>
            <a:pPr>
              <a:defRPr b="1" sz="1200">
                <a:solidFill>
                  <a:srgbClr val="FFFFFF"/>
                </a:solidFill>
              </a:defRPr>
            </a:pPr>
            <a:r>
              <a:t>Range Tested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297680" y="1097280"/>
            <a:ext cx="1645920" cy="365760"/>
          </a:xfrm>
          <a:prstGeom prst="rect">
            <a:avLst/>
          </a:prstGeom>
          <a:solidFill>
            <a:srgbClr val="003366"/>
          </a:solidFill>
        </p:spPr>
        <p:txBody>
          <a:bodyPr wrap="none">
            <a:spAutoFit/>
          </a:bodyPr>
          <a:lstStyle/>
          <a:p>
            <a:pPr>
              <a:defRPr b="1" sz="1200">
                <a:solidFill>
                  <a:srgbClr val="FFFFFF"/>
                </a:solidFill>
              </a:defRPr>
            </a:pPr>
            <a:r>
              <a:t>Impact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508760"/>
            <a:ext cx="1371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/>
            </a:pPr>
            <a:r>
              <a:t>Confidence Threshold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28800" y="1508760"/>
            <a:ext cx="10972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/>
            </a:pPr>
            <a:r>
              <a:t>0.50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926080" y="1508760"/>
            <a:ext cx="1371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/>
            </a:pPr>
            <a:r>
              <a:t>0.45 - 0.55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97680" y="1508760"/>
            <a:ext cx="1645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/>
            </a:pPr>
            <a:r>
              <a:t>Filters low‑quality signals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1874519"/>
            <a:ext cx="1371600" cy="365760"/>
          </a:xfrm>
          <a:prstGeom prst="rect">
            <a:avLst/>
          </a:prstGeom>
          <a:solidFill>
            <a:srgbClr val="F0F0F0"/>
          </a:solidFill>
        </p:spPr>
        <p:txBody>
          <a:bodyPr wrap="none">
            <a:spAutoFit/>
          </a:bodyPr>
          <a:lstStyle/>
          <a:p>
            <a:pPr>
              <a:defRPr sz="1100"/>
            </a:pPr>
            <a:r>
              <a:t>Stop Loss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828800" y="1874519"/>
            <a:ext cx="1097280" cy="365760"/>
          </a:xfrm>
          <a:prstGeom prst="rect">
            <a:avLst/>
          </a:prstGeom>
          <a:solidFill>
            <a:srgbClr val="F0F0F0"/>
          </a:solidFill>
        </p:spPr>
        <p:txBody>
          <a:bodyPr wrap="none">
            <a:spAutoFit/>
          </a:bodyPr>
          <a:lstStyle/>
          <a:p>
            <a:pPr>
              <a:defRPr sz="1100"/>
            </a:pPr>
            <a:r>
              <a:t>0.25%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926080" y="1874519"/>
            <a:ext cx="1371600" cy="365760"/>
          </a:xfrm>
          <a:prstGeom prst="rect">
            <a:avLst/>
          </a:prstGeom>
          <a:solidFill>
            <a:srgbClr val="F0F0F0"/>
          </a:solidFill>
        </p:spPr>
        <p:txBody>
          <a:bodyPr wrap="none">
            <a:spAutoFit/>
          </a:bodyPr>
          <a:lstStyle/>
          <a:p>
            <a:pPr>
              <a:defRPr sz="1100"/>
            </a:pPr>
            <a:r>
              <a:t>0.15% - 0.25%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297680" y="1874519"/>
            <a:ext cx="1645920" cy="365760"/>
          </a:xfrm>
          <a:prstGeom prst="rect">
            <a:avLst/>
          </a:prstGeom>
          <a:solidFill>
            <a:srgbClr val="F0F0F0"/>
          </a:solidFill>
        </p:spPr>
        <p:txBody>
          <a:bodyPr wrap="none">
            <a:spAutoFit/>
          </a:bodyPr>
          <a:lstStyle/>
          <a:p>
            <a:pPr>
              <a:defRPr sz="1100"/>
            </a:pPr>
            <a:r>
              <a:t>Limits downside risk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2240280"/>
            <a:ext cx="1371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/>
            </a:pPr>
            <a:r>
              <a:t>Target Profit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828800" y="2240280"/>
            <a:ext cx="10972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/>
            </a:pPr>
            <a:r>
              <a:t>0.70%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926080" y="2240280"/>
            <a:ext cx="1371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/>
            </a:pPr>
            <a:r>
              <a:t>0.30% - 0.70%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297680" y="2240280"/>
            <a:ext cx="1645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/>
            </a:pPr>
            <a:r>
              <a:t>Profit taking level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" y="2606040"/>
            <a:ext cx="1371600" cy="365760"/>
          </a:xfrm>
          <a:prstGeom prst="rect">
            <a:avLst/>
          </a:prstGeom>
          <a:solidFill>
            <a:srgbClr val="F0F0F0"/>
          </a:solidFill>
        </p:spPr>
        <p:txBody>
          <a:bodyPr wrap="none">
            <a:spAutoFit/>
          </a:bodyPr>
          <a:lstStyle/>
          <a:p>
            <a:pPr>
              <a:defRPr sz="1100"/>
            </a:pPr>
            <a:r>
              <a:t>Max Hold Time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828800" y="2606040"/>
            <a:ext cx="1097280" cy="365760"/>
          </a:xfrm>
          <a:prstGeom prst="rect">
            <a:avLst/>
          </a:prstGeom>
          <a:solidFill>
            <a:srgbClr val="F0F0F0"/>
          </a:solidFill>
        </p:spPr>
        <p:txBody>
          <a:bodyPr wrap="none">
            <a:spAutoFit/>
          </a:bodyPr>
          <a:lstStyle/>
          <a:p>
            <a:pPr>
              <a:defRPr sz="1100"/>
            </a:pPr>
            <a:r>
              <a:t>45 min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926080" y="2606040"/>
            <a:ext cx="1371600" cy="365760"/>
          </a:xfrm>
          <a:prstGeom prst="rect">
            <a:avLst/>
          </a:prstGeom>
          <a:solidFill>
            <a:srgbClr val="F0F0F0"/>
          </a:solidFill>
        </p:spPr>
        <p:txBody>
          <a:bodyPr wrap="none">
            <a:spAutoFit/>
          </a:bodyPr>
          <a:lstStyle/>
          <a:p>
            <a:pPr>
              <a:defRPr sz="1100"/>
            </a:pPr>
            <a:r>
              <a:t>15 - 45 min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297680" y="2606040"/>
            <a:ext cx="1645920" cy="365760"/>
          </a:xfrm>
          <a:prstGeom prst="rect">
            <a:avLst/>
          </a:prstGeom>
          <a:solidFill>
            <a:srgbClr val="F0F0F0"/>
          </a:solidFill>
        </p:spPr>
        <p:txBody>
          <a:bodyPr wrap="none">
            <a:spAutoFit/>
          </a:bodyPr>
          <a:lstStyle/>
          <a:p>
            <a:pPr>
              <a:defRPr sz="1100"/>
            </a:pPr>
            <a:r>
              <a:t>Time‑based exit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7200" y="2971800"/>
            <a:ext cx="1371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/>
            </a:pPr>
            <a:r>
              <a:t>Risk‑Reward Ratio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828800" y="2971800"/>
            <a:ext cx="10972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/>
            </a:pPr>
            <a:r>
              <a:t>2.8:1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926080" y="2971800"/>
            <a:ext cx="1371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/>
            </a:pPr>
            <a:r>
              <a:t>Target/Stop Loss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297680" y="2971800"/>
            <a:ext cx="1645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/>
            </a:pPr>
            <a:r>
              <a:t>Asymmetric returns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1277295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🏆 Best Performing Walk‑Forward Folds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731520" cy="365760"/>
          </a:xfrm>
          <a:prstGeom prst="rect">
            <a:avLst/>
          </a:prstGeom>
          <a:solidFill>
            <a:srgbClr val="003366"/>
          </a:solidFill>
        </p:spPr>
        <p:txBody>
          <a:bodyPr wrap="none">
            <a:spAutoFit/>
          </a:bodyPr>
          <a:lstStyle/>
          <a:p>
            <a:pPr>
              <a:defRPr b="1" sz="1200">
                <a:solidFill>
                  <a:srgbClr val="FFFFFF"/>
                </a:solidFill>
              </a:defRPr>
            </a:pPr>
            <a:r>
              <a:t>Fold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88720" y="1097280"/>
            <a:ext cx="1097280" cy="365760"/>
          </a:xfrm>
          <a:prstGeom prst="rect">
            <a:avLst/>
          </a:prstGeom>
          <a:solidFill>
            <a:srgbClr val="003366"/>
          </a:solidFill>
        </p:spPr>
        <p:txBody>
          <a:bodyPr wrap="none">
            <a:spAutoFit/>
          </a:bodyPr>
          <a:lstStyle/>
          <a:p>
            <a:pPr>
              <a:defRPr b="1" sz="1200">
                <a:solidFill>
                  <a:srgbClr val="FFFFFF"/>
                </a:solidFill>
              </a:defRPr>
            </a:pPr>
            <a:r>
              <a:t>Period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286000" y="1097280"/>
            <a:ext cx="1280160" cy="365760"/>
          </a:xfrm>
          <a:prstGeom prst="rect">
            <a:avLst/>
          </a:prstGeom>
          <a:solidFill>
            <a:srgbClr val="003366"/>
          </a:solidFill>
        </p:spPr>
        <p:txBody>
          <a:bodyPr wrap="none">
            <a:spAutoFit/>
          </a:bodyPr>
          <a:lstStyle/>
          <a:p>
            <a:pPr>
              <a:defRPr b="1" sz="1200">
                <a:solidFill>
                  <a:srgbClr val="FFFFFF"/>
                </a:solidFill>
              </a:defRPr>
            </a:pPr>
            <a:r>
              <a:t>Profit (₹)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566160" y="1097280"/>
            <a:ext cx="914400" cy="365760"/>
          </a:xfrm>
          <a:prstGeom prst="rect">
            <a:avLst/>
          </a:prstGeom>
          <a:solidFill>
            <a:srgbClr val="003366"/>
          </a:solidFill>
        </p:spPr>
        <p:txBody>
          <a:bodyPr wrap="none">
            <a:spAutoFit/>
          </a:bodyPr>
          <a:lstStyle/>
          <a:p>
            <a:pPr>
              <a:defRPr b="1" sz="1200">
                <a:solidFill>
                  <a:srgbClr val="FFFFFF"/>
                </a:solidFill>
              </a:defRPr>
            </a:pPr>
            <a:r>
              <a:t>Trades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480560" y="1097280"/>
            <a:ext cx="914400" cy="365760"/>
          </a:xfrm>
          <a:prstGeom prst="rect">
            <a:avLst/>
          </a:prstGeom>
          <a:solidFill>
            <a:srgbClr val="003366"/>
          </a:solidFill>
        </p:spPr>
        <p:txBody>
          <a:bodyPr wrap="none">
            <a:spAutoFit/>
          </a:bodyPr>
          <a:lstStyle/>
          <a:p>
            <a:pPr>
              <a:defRPr b="1" sz="1200">
                <a:solidFill>
                  <a:srgbClr val="FFFFFF"/>
                </a:solidFill>
              </a:defRPr>
            </a:pPr>
            <a:r>
              <a:t>Win Rate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508760"/>
            <a:ext cx="731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/>
            </a:pPr>
            <a:r>
              <a:t>47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88720" y="1508760"/>
            <a:ext cx="10972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/>
            </a:pPr>
            <a:r>
              <a:t>Mar 2020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286000" y="1508760"/>
            <a:ext cx="12801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/>
            </a:pPr>
            <a:r>
              <a:t>792,433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566160" y="1508760"/>
            <a:ext cx="914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/>
            </a:pPr>
            <a:r>
              <a:t>3,101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80560" y="1508760"/>
            <a:ext cx="914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/>
            </a:pPr>
            <a:r>
              <a:t>54.3%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1874519"/>
            <a:ext cx="731520" cy="365760"/>
          </a:xfrm>
          <a:prstGeom prst="rect">
            <a:avLst/>
          </a:prstGeom>
          <a:solidFill>
            <a:srgbClr val="F0F0F0"/>
          </a:solidFill>
        </p:spPr>
        <p:txBody>
          <a:bodyPr wrap="none">
            <a:spAutoFit/>
          </a:bodyPr>
          <a:lstStyle/>
          <a:p>
            <a:pPr>
              <a:defRPr sz="1100"/>
            </a:pPr>
            <a:r>
              <a:t>48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88720" y="1874519"/>
            <a:ext cx="1097280" cy="365760"/>
          </a:xfrm>
          <a:prstGeom prst="rect">
            <a:avLst/>
          </a:prstGeom>
          <a:solidFill>
            <a:srgbClr val="F0F0F0"/>
          </a:solidFill>
        </p:spPr>
        <p:txBody>
          <a:bodyPr wrap="none">
            <a:spAutoFit/>
          </a:bodyPr>
          <a:lstStyle/>
          <a:p>
            <a:pPr>
              <a:defRPr sz="1100"/>
            </a:pPr>
            <a:r>
              <a:t>Apr-May 2020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286000" y="1874519"/>
            <a:ext cx="1280160" cy="365760"/>
          </a:xfrm>
          <a:prstGeom prst="rect">
            <a:avLst/>
          </a:prstGeom>
          <a:solidFill>
            <a:srgbClr val="F0F0F0"/>
          </a:solidFill>
        </p:spPr>
        <p:txBody>
          <a:bodyPr wrap="none">
            <a:spAutoFit/>
          </a:bodyPr>
          <a:lstStyle/>
          <a:p>
            <a:pPr>
              <a:defRPr sz="1100"/>
            </a:pPr>
            <a:r>
              <a:t>640,484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566160" y="1874519"/>
            <a:ext cx="914400" cy="365760"/>
          </a:xfrm>
          <a:prstGeom prst="rect">
            <a:avLst/>
          </a:prstGeom>
          <a:solidFill>
            <a:srgbClr val="F0F0F0"/>
          </a:solidFill>
        </p:spPr>
        <p:txBody>
          <a:bodyPr wrap="none">
            <a:spAutoFit/>
          </a:bodyPr>
          <a:lstStyle/>
          <a:p>
            <a:pPr>
              <a:defRPr sz="1100"/>
            </a:pPr>
            <a:r>
              <a:t>1,000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480560" y="1874519"/>
            <a:ext cx="914400" cy="365760"/>
          </a:xfrm>
          <a:prstGeom prst="rect">
            <a:avLst/>
          </a:prstGeom>
          <a:solidFill>
            <a:srgbClr val="F0F0F0"/>
          </a:solidFill>
        </p:spPr>
        <p:txBody>
          <a:bodyPr wrap="none">
            <a:spAutoFit/>
          </a:bodyPr>
          <a:lstStyle/>
          <a:p>
            <a:pPr>
              <a:defRPr sz="1100"/>
            </a:pPr>
            <a:r>
              <a:t>94.9%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" y="2240280"/>
            <a:ext cx="731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/>
            </a:pPr>
            <a:r>
              <a:t>51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88720" y="2240280"/>
            <a:ext cx="10972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/>
            </a:pPr>
            <a:r>
              <a:t>Aug-Sep 2020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286000" y="2240280"/>
            <a:ext cx="12801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/>
            </a:pPr>
            <a:r>
              <a:t>487,843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566160" y="2240280"/>
            <a:ext cx="914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/>
            </a:pPr>
            <a:r>
              <a:t>739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480560" y="2240280"/>
            <a:ext cx="914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/>
            </a:pPr>
            <a:r>
              <a:t>97.0%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7200" y="2606040"/>
            <a:ext cx="731520" cy="365760"/>
          </a:xfrm>
          <a:prstGeom prst="rect">
            <a:avLst/>
          </a:prstGeom>
          <a:solidFill>
            <a:srgbClr val="F0F0F0"/>
          </a:solidFill>
        </p:spPr>
        <p:txBody>
          <a:bodyPr wrap="none">
            <a:spAutoFit/>
          </a:bodyPr>
          <a:lstStyle/>
          <a:p>
            <a:pPr>
              <a:defRPr sz="1100"/>
            </a:pPr>
            <a:r>
              <a:t>9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88720" y="2606040"/>
            <a:ext cx="1097280" cy="365760"/>
          </a:xfrm>
          <a:prstGeom prst="rect">
            <a:avLst/>
          </a:prstGeom>
          <a:solidFill>
            <a:srgbClr val="F0F0F0"/>
          </a:solidFill>
        </p:spPr>
        <p:txBody>
          <a:bodyPr wrap="none">
            <a:spAutoFit/>
          </a:bodyPr>
          <a:lstStyle/>
          <a:p>
            <a:pPr>
              <a:defRPr sz="1100"/>
            </a:pPr>
            <a:r>
              <a:t>Jan 2016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286000" y="2606040"/>
            <a:ext cx="1280160" cy="365760"/>
          </a:xfrm>
          <a:prstGeom prst="rect">
            <a:avLst/>
          </a:prstGeom>
          <a:solidFill>
            <a:srgbClr val="F0F0F0"/>
          </a:solidFill>
        </p:spPr>
        <p:txBody>
          <a:bodyPr wrap="none">
            <a:spAutoFit/>
          </a:bodyPr>
          <a:lstStyle/>
          <a:p>
            <a:pPr>
              <a:defRPr sz="1100"/>
            </a:pPr>
            <a:r>
              <a:t>449,302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566160" y="2606040"/>
            <a:ext cx="914400" cy="365760"/>
          </a:xfrm>
          <a:prstGeom prst="rect">
            <a:avLst/>
          </a:prstGeom>
          <a:solidFill>
            <a:srgbClr val="F0F0F0"/>
          </a:solidFill>
        </p:spPr>
        <p:txBody>
          <a:bodyPr wrap="none">
            <a:spAutoFit/>
          </a:bodyPr>
          <a:lstStyle/>
          <a:p>
            <a:pPr>
              <a:defRPr sz="1100"/>
            </a:pPr>
            <a:r>
              <a:t>656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480560" y="2606040"/>
            <a:ext cx="914400" cy="365760"/>
          </a:xfrm>
          <a:prstGeom prst="rect">
            <a:avLst/>
          </a:prstGeom>
          <a:solidFill>
            <a:srgbClr val="F0F0F0"/>
          </a:solidFill>
        </p:spPr>
        <p:txBody>
          <a:bodyPr wrap="none">
            <a:spAutoFit/>
          </a:bodyPr>
          <a:lstStyle/>
          <a:p>
            <a:pPr>
              <a:defRPr sz="1100"/>
            </a:pPr>
            <a:r>
              <a:t>99.5%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57200" y="2971800"/>
            <a:ext cx="731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/>
            </a:pPr>
            <a:r>
              <a:t>25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188720" y="2971800"/>
            <a:ext cx="10972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/>
            </a:pPr>
            <a:r>
              <a:t>Oct-Nov 2017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286000" y="2971800"/>
            <a:ext cx="12801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/>
            </a:pPr>
            <a:r>
              <a:t>357,440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566160" y="2971800"/>
            <a:ext cx="914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/>
            </a:pPr>
            <a:r>
              <a:t>534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480560" y="2971800"/>
            <a:ext cx="914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/>
            </a:pPr>
            <a:r>
              <a:t>97.9%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1277295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⚠️ Worst Performing Walk‑Forward Folds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731520" cy="365760"/>
          </a:xfrm>
          <a:prstGeom prst="rect">
            <a:avLst/>
          </a:prstGeom>
          <a:solidFill>
            <a:srgbClr val="003366"/>
          </a:solidFill>
        </p:spPr>
        <p:txBody>
          <a:bodyPr wrap="none">
            <a:spAutoFit/>
          </a:bodyPr>
          <a:lstStyle/>
          <a:p>
            <a:pPr>
              <a:defRPr b="1" sz="1200">
                <a:solidFill>
                  <a:srgbClr val="FFFFFF"/>
                </a:solidFill>
              </a:defRPr>
            </a:pPr>
            <a:r>
              <a:t>Fold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88720" y="1097280"/>
            <a:ext cx="1097280" cy="365760"/>
          </a:xfrm>
          <a:prstGeom prst="rect">
            <a:avLst/>
          </a:prstGeom>
          <a:solidFill>
            <a:srgbClr val="003366"/>
          </a:solidFill>
        </p:spPr>
        <p:txBody>
          <a:bodyPr wrap="none">
            <a:spAutoFit/>
          </a:bodyPr>
          <a:lstStyle/>
          <a:p>
            <a:pPr>
              <a:defRPr b="1" sz="1200">
                <a:solidFill>
                  <a:srgbClr val="FFFFFF"/>
                </a:solidFill>
              </a:defRPr>
            </a:pPr>
            <a:r>
              <a:t>Period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286000" y="1097280"/>
            <a:ext cx="1280160" cy="365760"/>
          </a:xfrm>
          <a:prstGeom prst="rect">
            <a:avLst/>
          </a:prstGeom>
          <a:solidFill>
            <a:srgbClr val="003366"/>
          </a:solidFill>
        </p:spPr>
        <p:txBody>
          <a:bodyPr wrap="none">
            <a:spAutoFit/>
          </a:bodyPr>
          <a:lstStyle/>
          <a:p>
            <a:pPr>
              <a:defRPr b="1" sz="1200">
                <a:solidFill>
                  <a:srgbClr val="FFFFFF"/>
                </a:solidFill>
              </a:defRPr>
            </a:pPr>
            <a:r>
              <a:t>Profit (₹)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566160" y="1097280"/>
            <a:ext cx="914400" cy="365760"/>
          </a:xfrm>
          <a:prstGeom prst="rect">
            <a:avLst/>
          </a:prstGeom>
          <a:solidFill>
            <a:srgbClr val="003366"/>
          </a:solidFill>
        </p:spPr>
        <p:txBody>
          <a:bodyPr wrap="none">
            <a:spAutoFit/>
          </a:bodyPr>
          <a:lstStyle/>
          <a:p>
            <a:pPr>
              <a:defRPr b="1" sz="1200">
                <a:solidFill>
                  <a:srgbClr val="FFFFFF"/>
                </a:solidFill>
              </a:defRPr>
            </a:pPr>
            <a:r>
              <a:t>Trades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480560" y="1097280"/>
            <a:ext cx="1463040" cy="365760"/>
          </a:xfrm>
          <a:prstGeom prst="rect">
            <a:avLst/>
          </a:prstGeom>
          <a:solidFill>
            <a:srgbClr val="003366"/>
          </a:solidFill>
        </p:spPr>
        <p:txBody>
          <a:bodyPr wrap="none">
            <a:spAutoFit/>
          </a:bodyPr>
          <a:lstStyle/>
          <a:p>
            <a:pPr>
              <a:defRPr b="1" sz="1200">
                <a:solidFill>
                  <a:srgbClr val="FFFFFF"/>
                </a:solidFill>
              </a:defRPr>
            </a:pPr>
            <a:r>
              <a:t>Cause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508760"/>
            <a:ext cx="731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/>
            </a:pPr>
            <a:r>
              <a:t>16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88720" y="1508760"/>
            <a:ext cx="10972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/>
            </a:pPr>
            <a:r>
              <a:t>Nov 2016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286000" y="1508760"/>
            <a:ext cx="12801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/>
            </a:pPr>
            <a:r>
              <a:t>-85,238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566160" y="1508760"/>
            <a:ext cx="914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/>
            </a:pPr>
            <a:r>
              <a:t>337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80560" y="1508760"/>
            <a:ext cx="14630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/>
            </a:pPr>
            <a:r>
              <a:t>Demonetization Crash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1874519"/>
            <a:ext cx="731520" cy="365760"/>
          </a:xfrm>
          <a:prstGeom prst="rect">
            <a:avLst/>
          </a:prstGeom>
          <a:solidFill>
            <a:srgbClr val="F0F0F0"/>
          </a:solidFill>
        </p:spPr>
        <p:txBody>
          <a:bodyPr wrap="none">
            <a:spAutoFit/>
          </a:bodyPr>
          <a:lstStyle/>
          <a:p>
            <a:pPr>
              <a:defRPr sz="1100"/>
            </a:pPr>
            <a:r>
              <a:t>60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88720" y="1874519"/>
            <a:ext cx="1097280" cy="365760"/>
          </a:xfrm>
          <a:prstGeom prst="rect">
            <a:avLst/>
          </a:prstGeom>
          <a:solidFill>
            <a:srgbClr val="F0F0F0"/>
          </a:solidFill>
        </p:spPr>
        <p:txBody>
          <a:bodyPr wrap="none">
            <a:spAutoFit/>
          </a:bodyPr>
          <a:lstStyle/>
          <a:p>
            <a:pPr>
              <a:defRPr sz="1100"/>
            </a:pPr>
            <a:r>
              <a:t>Aug 2021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286000" y="1874519"/>
            <a:ext cx="1280160" cy="365760"/>
          </a:xfrm>
          <a:prstGeom prst="rect">
            <a:avLst/>
          </a:prstGeom>
          <a:solidFill>
            <a:srgbClr val="F0F0F0"/>
          </a:solidFill>
        </p:spPr>
        <p:txBody>
          <a:bodyPr wrap="none">
            <a:spAutoFit/>
          </a:bodyPr>
          <a:lstStyle/>
          <a:p>
            <a:pPr>
              <a:defRPr sz="1100"/>
            </a:pPr>
            <a:r>
              <a:t>-43,640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566160" y="1874519"/>
            <a:ext cx="914400" cy="365760"/>
          </a:xfrm>
          <a:prstGeom prst="rect">
            <a:avLst/>
          </a:prstGeom>
          <a:solidFill>
            <a:srgbClr val="F0F0F0"/>
          </a:solidFill>
        </p:spPr>
        <p:txBody>
          <a:bodyPr wrap="none">
            <a:spAutoFit/>
          </a:bodyPr>
          <a:lstStyle/>
          <a:p>
            <a:pPr>
              <a:defRPr sz="1100"/>
            </a:pPr>
            <a:r>
              <a:t>192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480560" y="1874519"/>
            <a:ext cx="1463040" cy="365760"/>
          </a:xfrm>
          <a:prstGeom prst="rect">
            <a:avLst/>
          </a:prstGeom>
          <a:solidFill>
            <a:srgbClr val="F0F0F0"/>
          </a:solidFill>
        </p:spPr>
        <p:txBody>
          <a:bodyPr wrap="none">
            <a:spAutoFit/>
          </a:bodyPr>
          <a:lstStyle/>
          <a:p>
            <a:pPr>
              <a:defRPr sz="1100"/>
            </a:pPr>
            <a:r>
              <a:t>Low Volatility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" y="2240280"/>
            <a:ext cx="731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/>
            </a:pPr>
            <a:r>
              <a:t>61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88720" y="2240280"/>
            <a:ext cx="10972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/>
            </a:pPr>
            <a:r>
              <a:t>Sep-Oct 2021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286000" y="2240280"/>
            <a:ext cx="12801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/>
            </a:pPr>
            <a:r>
              <a:t>-26,513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566160" y="2240280"/>
            <a:ext cx="914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/>
            </a:pPr>
            <a:r>
              <a:t>188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480560" y="2240280"/>
            <a:ext cx="14630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/>
            </a:pPr>
            <a:r>
              <a:t>Sideways Market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7200" y="2606040"/>
            <a:ext cx="731520" cy="365760"/>
          </a:xfrm>
          <a:prstGeom prst="rect">
            <a:avLst/>
          </a:prstGeom>
          <a:solidFill>
            <a:srgbClr val="F0F0F0"/>
          </a:solidFill>
        </p:spPr>
        <p:txBody>
          <a:bodyPr wrap="none">
            <a:spAutoFit/>
          </a:bodyPr>
          <a:lstStyle/>
          <a:p>
            <a:pPr>
              <a:defRPr sz="1100"/>
            </a:pPr>
            <a:r>
              <a:t>82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88720" y="2606040"/>
            <a:ext cx="1097280" cy="365760"/>
          </a:xfrm>
          <a:prstGeom prst="rect">
            <a:avLst/>
          </a:prstGeom>
          <a:solidFill>
            <a:srgbClr val="F0F0F0"/>
          </a:solidFill>
        </p:spPr>
        <p:txBody>
          <a:bodyPr wrap="none">
            <a:spAutoFit/>
          </a:bodyPr>
          <a:lstStyle/>
          <a:p>
            <a:pPr>
              <a:defRPr sz="1100"/>
            </a:pPr>
            <a:r>
              <a:t>Jan 2024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286000" y="2606040"/>
            <a:ext cx="1280160" cy="365760"/>
          </a:xfrm>
          <a:prstGeom prst="rect">
            <a:avLst/>
          </a:prstGeom>
          <a:solidFill>
            <a:srgbClr val="F0F0F0"/>
          </a:solidFill>
        </p:spPr>
        <p:txBody>
          <a:bodyPr wrap="none">
            <a:spAutoFit/>
          </a:bodyPr>
          <a:lstStyle/>
          <a:p>
            <a:pPr>
              <a:defRPr sz="1100"/>
            </a:pPr>
            <a:r>
              <a:t>-2,260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566160" y="2606040"/>
            <a:ext cx="914400" cy="365760"/>
          </a:xfrm>
          <a:prstGeom prst="rect">
            <a:avLst/>
          </a:prstGeom>
          <a:solidFill>
            <a:srgbClr val="F0F0F0"/>
          </a:solidFill>
        </p:spPr>
        <p:txBody>
          <a:bodyPr wrap="none">
            <a:spAutoFit/>
          </a:bodyPr>
          <a:lstStyle/>
          <a:p>
            <a:pPr>
              <a:defRPr sz="1100"/>
            </a:pPr>
            <a:r>
              <a:t>38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480560" y="2606040"/>
            <a:ext cx="1463040" cy="365760"/>
          </a:xfrm>
          <a:prstGeom prst="rect">
            <a:avLst/>
          </a:prstGeom>
          <a:solidFill>
            <a:srgbClr val="F0F0F0"/>
          </a:solidFill>
        </p:spPr>
        <p:txBody>
          <a:bodyPr wrap="none">
            <a:spAutoFit/>
          </a:bodyPr>
          <a:lstStyle/>
          <a:p>
            <a:pPr>
              <a:defRPr sz="1100"/>
            </a:pPr>
            <a:r>
              <a:t>Drawdown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57200" y="2971800"/>
            <a:ext cx="731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/>
            </a:pPr>
            <a:r>
              <a:t>40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188720" y="2971800"/>
            <a:ext cx="10972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/>
            </a:pPr>
            <a:r>
              <a:t>Jun 2019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286000" y="2971800"/>
            <a:ext cx="12801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/>
            </a:pPr>
            <a:r>
              <a:t>-1,650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566160" y="2971800"/>
            <a:ext cx="914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/>
            </a:pPr>
            <a:r>
              <a:t>32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480560" y="2971800"/>
            <a:ext cx="14630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/>
            </a:pPr>
            <a:r>
              <a:t>Consolidation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1277295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📊 Performance Metrics (Jan‑Mar 2026)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1371600" cy="365760"/>
          </a:xfrm>
          <a:prstGeom prst="rect">
            <a:avLst/>
          </a:prstGeom>
          <a:solidFill>
            <a:srgbClr val="003366"/>
          </a:solidFill>
        </p:spPr>
        <p:txBody>
          <a:bodyPr wrap="none">
            <a:spAutoFit/>
          </a:bodyPr>
          <a:lstStyle/>
          <a:p>
            <a:pPr>
              <a:defRPr b="1" sz="1200">
                <a:solidFill>
                  <a:srgbClr val="FFFFFF"/>
                </a:solidFill>
              </a:defRPr>
            </a:pPr>
            <a:r>
              <a:t>Metric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28800" y="1097280"/>
            <a:ext cx="1097280" cy="365760"/>
          </a:xfrm>
          <a:prstGeom prst="rect">
            <a:avLst/>
          </a:prstGeom>
          <a:solidFill>
            <a:srgbClr val="003366"/>
          </a:solidFill>
        </p:spPr>
        <p:txBody>
          <a:bodyPr wrap="none">
            <a:spAutoFit/>
          </a:bodyPr>
          <a:lstStyle/>
          <a:p>
            <a:pPr>
              <a:defRPr b="1" sz="1200">
                <a:solidFill>
                  <a:srgbClr val="FFFFFF"/>
                </a:solidFill>
              </a:defRPr>
            </a:pPr>
            <a:r>
              <a:t>Value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926080" y="1097280"/>
            <a:ext cx="1097280" cy="365760"/>
          </a:xfrm>
          <a:prstGeom prst="rect">
            <a:avLst/>
          </a:prstGeom>
          <a:solidFill>
            <a:srgbClr val="003366"/>
          </a:solidFill>
        </p:spPr>
        <p:txBody>
          <a:bodyPr wrap="none">
            <a:spAutoFit/>
          </a:bodyPr>
          <a:lstStyle/>
          <a:p>
            <a:pPr>
              <a:defRPr b="1" sz="1200">
                <a:solidFill>
                  <a:srgbClr val="FFFFFF"/>
                </a:solidFill>
              </a:defRPr>
            </a:pPr>
            <a:r>
              <a:t>Target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023360" y="1097280"/>
            <a:ext cx="914400" cy="365760"/>
          </a:xfrm>
          <a:prstGeom prst="rect">
            <a:avLst/>
          </a:prstGeom>
          <a:solidFill>
            <a:srgbClr val="003366"/>
          </a:solidFill>
        </p:spPr>
        <p:txBody>
          <a:bodyPr wrap="none">
            <a:spAutoFit/>
          </a:bodyPr>
          <a:lstStyle/>
          <a:p>
            <a:pPr>
              <a:defRPr b="1" sz="1200">
                <a:solidFill>
                  <a:srgbClr val="FFFFFF"/>
                </a:solidFill>
              </a:defRPr>
            </a:pPr>
            <a:r>
              <a:t>Status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508760"/>
            <a:ext cx="1371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/>
            </a:pPr>
            <a:r>
              <a:t>Total Trades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28800" y="1508760"/>
            <a:ext cx="10972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/>
            </a:pPr>
            <a:r>
              <a:t>86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926080" y="1508760"/>
            <a:ext cx="10972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/>
            </a:pPr>
            <a:r>
              <a:t>-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023360" y="1508760"/>
            <a:ext cx="914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/>
            </a:pPr>
            <a:r>
              <a:t>-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1874519"/>
            <a:ext cx="1371600" cy="365760"/>
          </a:xfrm>
          <a:prstGeom prst="rect">
            <a:avLst/>
          </a:prstGeom>
          <a:solidFill>
            <a:srgbClr val="F0F0F0"/>
          </a:solidFill>
        </p:spPr>
        <p:txBody>
          <a:bodyPr wrap="none">
            <a:spAutoFit/>
          </a:bodyPr>
          <a:lstStyle/>
          <a:p>
            <a:pPr>
              <a:defRPr sz="1100"/>
            </a:pPr>
            <a:r>
              <a:t>Net Profit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828800" y="1874519"/>
            <a:ext cx="1097280" cy="365760"/>
          </a:xfrm>
          <a:prstGeom prst="rect">
            <a:avLst/>
          </a:prstGeom>
          <a:solidFill>
            <a:srgbClr val="F0F0F0"/>
          </a:solidFill>
        </p:spPr>
        <p:txBody>
          <a:bodyPr wrap="none">
            <a:spAutoFit/>
          </a:bodyPr>
          <a:lstStyle/>
          <a:p>
            <a:pPr>
              <a:defRPr sz="1100"/>
            </a:pPr>
            <a:r>
              <a:t>-7,132.42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926080" y="1874519"/>
            <a:ext cx="1097280" cy="365760"/>
          </a:xfrm>
          <a:prstGeom prst="rect">
            <a:avLst/>
          </a:prstGeom>
          <a:solidFill>
            <a:srgbClr val="F0F0F0"/>
          </a:solidFill>
        </p:spPr>
        <p:txBody>
          <a:bodyPr wrap="none">
            <a:spAutoFit/>
          </a:bodyPr>
          <a:lstStyle/>
          <a:p>
            <a:pPr>
              <a:defRPr sz="1100"/>
            </a:pPr>
            <a:r>
              <a:t>&gt; 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023360" y="1874519"/>
            <a:ext cx="914400" cy="365760"/>
          </a:xfrm>
          <a:prstGeom prst="rect">
            <a:avLst/>
          </a:prstGeom>
          <a:solidFill>
            <a:srgbClr val="F0F0F0"/>
          </a:solidFill>
        </p:spPr>
        <p:txBody>
          <a:bodyPr wrap="none">
            <a:spAutoFit/>
          </a:bodyPr>
          <a:lstStyle/>
          <a:p>
            <a:pPr>
              <a:defRPr sz="1100"/>
            </a:pPr>
            <a:r>
              <a:t>❌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2240280"/>
            <a:ext cx="1371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/>
            </a:pPr>
            <a:r>
              <a:t>Win Rate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828800" y="2240280"/>
            <a:ext cx="10972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/>
            </a:pPr>
            <a:r>
              <a:t>23.26%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926080" y="2240280"/>
            <a:ext cx="10972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/>
            </a:pPr>
            <a:r>
              <a:t>&gt; 30%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023360" y="2240280"/>
            <a:ext cx="914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/>
            </a:pPr>
            <a:r>
              <a:t>⚠️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" y="2606040"/>
            <a:ext cx="1371600" cy="365760"/>
          </a:xfrm>
          <a:prstGeom prst="rect">
            <a:avLst/>
          </a:prstGeom>
          <a:solidFill>
            <a:srgbClr val="F0F0F0"/>
          </a:solidFill>
        </p:spPr>
        <p:txBody>
          <a:bodyPr wrap="none">
            <a:spAutoFit/>
          </a:bodyPr>
          <a:lstStyle/>
          <a:p>
            <a:pPr>
              <a:defRPr sz="1100"/>
            </a:pPr>
            <a:r>
              <a:t>Risk‑Reward Ratio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828800" y="2606040"/>
            <a:ext cx="1097280" cy="365760"/>
          </a:xfrm>
          <a:prstGeom prst="rect">
            <a:avLst/>
          </a:prstGeom>
          <a:solidFill>
            <a:srgbClr val="F0F0F0"/>
          </a:solidFill>
        </p:spPr>
        <p:txBody>
          <a:bodyPr wrap="none">
            <a:spAutoFit/>
          </a:bodyPr>
          <a:lstStyle/>
          <a:p>
            <a:pPr>
              <a:defRPr sz="1100"/>
            </a:pPr>
            <a:r>
              <a:t>1.81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926080" y="2606040"/>
            <a:ext cx="1097280" cy="365760"/>
          </a:xfrm>
          <a:prstGeom prst="rect">
            <a:avLst/>
          </a:prstGeom>
          <a:solidFill>
            <a:srgbClr val="F0F0F0"/>
          </a:solidFill>
        </p:spPr>
        <p:txBody>
          <a:bodyPr wrap="none">
            <a:spAutoFit/>
          </a:bodyPr>
          <a:lstStyle/>
          <a:p>
            <a:pPr>
              <a:defRPr sz="1100"/>
            </a:pPr>
            <a:r>
              <a:t>&gt; 1.5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023360" y="2606040"/>
            <a:ext cx="914400" cy="365760"/>
          </a:xfrm>
          <a:prstGeom prst="rect">
            <a:avLst/>
          </a:prstGeom>
          <a:solidFill>
            <a:srgbClr val="F0F0F0"/>
          </a:solidFill>
        </p:spPr>
        <p:txBody>
          <a:bodyPr wrap="none">
            <a:spAutoFit/>
          </a:bodyPr>
          <a:lstStyle/>
          <a:p>
            <a:pPr>
              <a:defRPr sz="1100"/>
            </a:pPr>
            <a:r>
              <a:t>✅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7200" y="2971800"/>
            <a:ext cx="1371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/>
            </a:pPr>
            <a:r>
              <a:t>Sharpe Ratio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828800" y="2971800"/>
            <a:ext cx="10972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/>
            </a:pPr>
            <a:r>
              <a:t>-0.26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926080" y="2971800"/>
            <a:ext cx="10972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/>
            </a:pPr>
            <a:r>
              <a:t>&gt; 0.5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023360" y="2971800"/>
            <a:ext cx="914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/>
            </a:pPr>
            <a:r>
              <a:t>❌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" y="3337560"/>
            <a:ext cx="1371600" cy="365760"/>
          </a:xfrm>
          <a:prstGeom prst="rect">
            <a:avLst/>
          </a:prstGeom>
          <a:solidFill>
            <a:srgbClr val="F0F0F0"/>
          </a:solidFill>
        </p:spPr>
        <p:txBody>
          <a:bodyPr wrap="none">
            <a:spAutoFit/>
          </a:bodyPr>
          <a:lstStyle/>
          <a:p>
            <a:pPr>
              <a:defRPr sz="1100"/>
            </a:pPr>
            <a:r>
              <a:t>Max Drawdown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828800" y="3337560"/>
            <a:ext cx="1097280" cy="365760"/>
          </a:xfrm>
          <a:prstGeom prst="rect">
            <a:avLst/>
          </a:prstGeom>
          <a:solidFill>
            <a:srgbClr val="F0F0F0"/>
          </a:solidFill>
        </p:spPr>
        <p:txBody>
          <a:bodyPr wrap="none">
            <a:spAutoFit/>
          </a:bodyPr>
          <a:lstStyle/>
          <a:p>
            <a:pPr>
              <a:defRPr sz="1100"/>
            </a:pPr>
            <a:r>
              <a:t>-8,865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926080" y="3337560"/>
            <a:ext cx="1097280" cy="365760"/>
          </a:xfrm>
          <a:prstGeom prst="rect">
            <a:avLst/>
          </a:prstGeom>
          <a:solidFill>
            <a:srgbClr val="F0F0F0"/>
          </a:solidFill>
        </p:spPr>
        <p:txBody>
          <a:bodyPr wrap="none">
            <a:spAutoFit/>
          </a:bodyPr>
          <a:lstStyle/>
          <a:p>
            <a:pPr>
              <a:defRPr sz="1100"/>
            </a:pPr>
            <a:r>
              <a:t>&lt; -5,000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023360" y="3337560"/>
            <a:ext cx="914400" cy="365760"/>
          </a:xfrm>
          <a:prstGeom prst="rect">
            <a:avLst/>
          </a:prstGeom>
          <a:solidFill>
            <a:srgbClr val="F0F0F0"/>
          </a:solidFill>
        </p:spPr>
        <p:txBody>
          <a:bodyPr wrap="none">
            <a:spAutoFit/>
          </a:bodyPr>
          <a:lstStyle/>
          <a:p>
            <a:pPr>
              <a:defRPr sz="1100"/>
            </a:pPr>
            <a:r>
              <a:t>⚠️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57200" y="3703320"/>
            <a:ext cx="1371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/>
            </a:pPr>
            <a:r>
              <a:t>Best Trade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828800" y="3703320"/>
            <a:ext cx="10972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/>
            </a:pPr>
            <a:r>
              <a:t>+685.28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926080" y="3703320"/>
            <a:ext cx="10972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/>
            </a:pPr>
            <a:r>
              <a:t>-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023360" y="3703320"/>
            <a:ext cx="914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/>
            </a:pPr>
            <a:r>
              <a:t>-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57200" y="4069080"/>
            <a:ext cx="1371600" cy="365760"/>
          </a:xfrm>
          <a:prstGeom prst="rect">
            <a:avLst/>
          </a:prstGeom>
          <a:solidFill>
            <a:srgbClr val="F0F0F0"/>
          </a:solidFill>
        </p:spPr>
        <p:txBody>
          <a:bodyPr wrap="none">
            <a:spAutoFit/>
          </a:bodyPr>
          <a:lstStyle/>
          <a:p>
            <a:pPr>
              <a:defRPr sz="1100"/>
            </a:pPr>
            <a:r>
              <a:t>Worst Trade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828800" y="4069080"/>
            <a:ext cx="1097280" cy="365760"/>
          </a:xfrm>
          <a:prstGeom prst="rect">
            <a:avLst/>
          </a:prstGeom>
          <a:solidFill>
            <a:srgbClr val="F0F0F0"/>
          </a:solidFill>
        </p:spPr>
        <p:txBody>
          <a:bodyPr wrap="none">
            <a:spAutoFit/>
          </a:bodyPr>
          <a:lstStyle/>
          <a:p>
            <a:pPr>
              <a:defRPr sz="1100"/>
            </a:pPr>
            <a:r>
              <a:t>-259.91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926080" y="4069080"/>
            <a:ext cx="1097280" cy="365760"/>
          </a:xfrm>
          <a:prstGeom prst="rect">
            <a:avLst/>
          </a:prstGeom>
          <a:solidFill>
            <a:srgbClr val="F0F0F0"/>
          </a:solidFill>
        </p:spPr>
        <p:txBody>
          <a:bodyPr wrap="none">
            <a:spAutoFit/>
          </a:bodyPr>
          <a:lstStyle/>
          <a:p>
            <a:pPr>
              <a:defRPr sz="1100"/>
            </a:pPr>
            <a:r>
              <a:t>-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023360" y="4069080"/>
            <a:ext cx="914400" cy="365760"/>
          </a:xfrm>
          <a:prstGeom prst="rect">
            <a:avLst/>
          </a:prstGeom>
          <a:solidFill>
            <a:srgbClr val="F0F0F0"/>
          </a:solidFill>
        </p:spPr>
        <p:txBody>
          <a:bodyPr wrap="none">
            <a:spAutoFit/>
          </a:bodyPr>
          <a:lstStyle/>
          <a:p>
            <a:pPr>
              <a:defRPr sz="1100"/>
            </a:pPr>
            <a:r>
              <a:t>-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1277295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📅 Monthly Performance &amp; Exit Analysis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05840"/>
            <a:ext cx="11277295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800"/>
              </a:spcAft>
              <a:defRPr sz="1400"/>
            </a:pPr>
            <a:r>
              <a:t>• MONTHLY P&amp;L (2026):</a:t>
            </a:r>
          </a:p>
          <a:p>
            <a:pPr>
              <a:spcAft>
                <a:spcPts val="800"/>
              </a:spcAft>
              <a:defRPr sz="1400"/>
            </a:pPr>
            <a:r>
              <a:t>•    • January 2026:  -₹985.19</a:t>
            </a:r>
          </a:p>
          <a:p>
            <a:pPr>
              <a:spcAft>
                <a:spcPts val="800"/>
              </a:spcAft>
              <a:defRPr sz="1400"/>
            </a:pPr>
            <a:r>
              <a:t>•    • February 2026: -₹6,230.79</a:t>
            </a:r>
          </a:p>
          <a:p>
            <a:pPr>
              <a:spcAft>
                <a:spcPts val="800"/>
              </a:spcAft>
              <a:defRPr sz="1400"/>
            </a:pPr>
            <a:r>
              <a:t>•    • March 2026:    +₹83.56</a:t>
            </a:r>
          </a:p>
          <a:p>
            <a:pPr>
              <a:spcAft>
                <a:spcPts val="800"/>
              </a:spcAft>
              <a:defRPr sz="1400"/>
            </a:pPr>
          </a:p>
          <a:p>
            <a:pPr>
              <a:spcAft>
                <a:spcPts val="800"/>
              </a:spcAft>
              <a:defRPr sz="1400"/>
            </a:pPr>
            <a:r>
              <a:t>• TRADE EXIT ANALYSIS (86 trades):</a:t>
            </a:r>
          </a:p>
          <a:p>
            <a:pPr>
              <a:spcAft>
                <a:spcPts val="800"/>
              </a:spcAft>
              <a:defRPr sz="1400"/>
            </a:pPr>
            <a:r>
              <a:t>•    • Stop Loss Hit: 66 trades (76.7%) – Avg loss ₹254</a:t>
            </a:r>
          </a:p>
          <a:p>
            <a:pPr>
              <a:spcAft>
                <a:spcPts val="800"/>
              </a:spcAft>
              <a:defRPr sz="1400"/>
            </a:pPr>
            <a:r>
              <a:t>•    • Time Exit:     12 trades (14.0%) – Avg profit ₹45</a:t>
            </a:r>
          </a:p>
          <a:p>
            <a:pPr>
              <a:spcAft>
                <a:spcPts val="800"/>
              </a:spcAft>
              <a:defRPr sz="1400"/>
            </a:pPr>
            <a:r>
              <a:t>•    • Target Hit:    8 trades  (9.3%)  – Avg profit ₹498</a:t>
            </a:r>
          </a:p>
          <a:p>
            <a:pPr>
              <a:spcAft>
                <a:spcPts val="800"/>
              </a:spcAft>
              <a:defRPr sz="1400"/>
            </a:pPr>
          </a:p>
          <a:p>
            <a:pPr>
              <a:spcAft>
                <a:spcPts val="800"/>
              </a:spcAft>
              <a:defRPr sz="1400"/>
            </a:pPr>
            <a:r>
              <a:t>• INSIGHT: Low win rate (23.3%) but average winner is 1.8x average loser.</a:t>
            </a:r>
          </a:p>
          <a:p>
            <a:pPr>
              <a:spcAft>
                <a:spcPts val="800"/>
              </a:spcAft>
              <a:defRPr sz="1400"/>
            </a:pPr>
            <a:r>
              <a:t>• Recommendation: Widen stop loss to 0.35% to reduce premature exits.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1277295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🛡️ Risk Management Framework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05840"/>
            <a:ext cx="11277295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800"/>
              </a:spcAft>
              <a:defRPr sz="1400"/>
            </a:pPr>
            <a:r>
              <a:t>• Implemented standalone `RiskManager` class:</a:t>
            </a:r>
          </a:p>
          <a:p>
            <a:pPr>
              <a:spcAft>
                <a:spcPts val="800"/>
              </a:spcAft>
              <a:defRPr sz="1400"/>
            </a:pPr>
          </a:p>
          <a:p>
            <a:pPr>
              <a:spcAft>
                <a:spcPts val="800"/>
              </a:spcAft>
              <a:defRPr sz="1400"/>
            </a:pPr>
            <a:r>
              <a:t>• • Maximum daily loss: ₹2,000 (trading halts if exceeded)</a:t>
            </a:r>
          </a:p>
          <a:p>
            <a:pPr>
              <a:spcAft>
                <a:spcPts val="800"/>
              </a:spcAft>
              <a:defRPr sz="1400"/>
            </a:pPr>
            <a:r>
              <a:t>• • Maximum drawdown: 10% from peak equity</a:t>
            </a:r>
          </a:p>
          <a:p>
            <a:pPr>
              <a:spcAft>
                <a:spcPts val="800"/>
              </a:spcAft>
              <a:defRPr sz="1400"/>
            </a:pPr>
            <a:r>
              <a:t>• • Maximum position size: ₹1,00,000 per trade</a:t>
            </a:r>
          </a:p>
          <a:p>
            <a:pPr>
              <a:spcAft>
                <a:spcPts val="800"/>
              </a:spcAft>
              <a:defRPr sz="1400"/>
            </a:pPr>
            <a:r>
              <a:t>• • Maximum concurrent trades: 3</a:t>
            </a:r>
          </a:p>
          <a:p>
            <a:pPr>
              <a:spcAft>
                <a:spcPts val="800"/>
              </a:spcAft>
              <a:defRPr sz="1400"/>
            </a:pPr>
            <a:r>
              <a:t>• • Dynamic position sizing using fixed fraction (2% risk per trade)</a:t>
            </a:r>
          </a:p>
          <a:p>
            <a:pPr>
              <a:spcAft>
                <a:spcPts val="800"/>
              </a:spcAft>
              <a:defRPr sz="1400"/>
            </a:pPr>
          </a:p>
          <a:p>
            <a:pPr>
              <a:spcAft>
                <a:spcPts val="800"/>
              </a:spcAft>
              <a:defRPr sz="1400"/>
            </a:pPr>
            <a:r>
              <a:t>• ✅ Benefits:</a:t>
            </a:r>
          </a:p>
          <a:p>
            <a:pPr>
              <a:spcAft>
                <a:spcPts val="800"/>
              </a:spcAft>
              <a:defRPr sz="1400"/>
            </a:pPr>
            <a:r>
              <a:t>•    • Prevents catastrophic losses</a:t>
            </a:r>
          </a:p>
          <a:p>
            <a:pPr>
              <a:spcAft>
                <a:spcPts val="800"/>
              </a:spcAft>
              <a:defRPr sz="1400"/>
            </a:pPr>
            <a:r>
              <a:t>•    • Enforces discipline</a:t>
            </a:r>
          </a:p>
          <a:p>
            <a:pPr>
              <a:spcAft>
                <a:spcPts val="800"/>
              </a:spcAft>
              <a:defRPr sz="1400"/>
            </a:pPr>
            <a:r>
              <a:t>•    • Integrated with backtest and live trading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1277295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💼 Business Impact &amp; ROI Potential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05840"/>
            <a:ext cx="11277295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800"/>
              </a:spcAft>
              <a:defRPr sz="1400"/>
            </a:pPr>
            <a:r>
              <a:t>• POTENTIAL APPLICATIONS:</a:t>
            </a:r>
          </a:p>
          <a:p>
            <a:pPr>
              <a:spcAft>
                <a:spcPts val="800"/>
              </a:spcAft>
              <a:defRPr sz="1400"/>
            </a:pPr>
            <a:r>
              <a:t>• • Proprietary trading desks</a:t>
            </a:r>
          </a:p>
          <a:p>
            <a:pPr>
              <a:spcAft>
                <a:spcPts val="800"/>
              </a:spcAft>
              <a:defRPr sz="1400"/>
            </a:pPr>
            <a:r>
              <a:t>• • Hedge fund strategies</a:t>
            </a:r>
          </a:p>
          <a:p>
            <a:pPr>
              <a:spcAft>
                <a:spcPts val="800"/>
              </a:spcAft>
              <a:defRPr sz="1400"/>
            </a:pPr>
            <a:r>
              <a:t>• • Retail trading automation</a:t>
            </a:r>
          </a:p>
          <a:p>
            <a:pPr>
              <a:spcAft>
                <a:spcPts val="800"/>
              </a:spcAft>
              <a:defRPr sz="1400"/>
            </a:pPr>
            <a:r>
              <a:t>• • Market making signals</a:t>
            </a:r>
          </a:p>
          <a:p>
            <a:pPr>
              <a:spcAft>
                <a:spcPts val="800"/>
              </a:spcAft>
              <a:defRPr sz="1400"/>
            </a:pPr>
          </a:p>
          <a:p>
            <a:pPr>
              <a:spcAft>
                <a:spcPts val="800"/>
              </a:spcAft>
              <a:defRPr sz="1400"/>
            </a:pPr>
            <a:r>
              <a:t>• KEY ADVANTAGES:</a:t>
            </a:r>
          </a:p>
          <a:p>
            <a:pPr>
              <a:spcAft>
                <a:spcPts val="800"/>
              </a:spcAft>
              <a:defRPr sz="1400"/>
            </a:pPr>
            <a:r>
              <a:t>• ✓ Fully automated – removes emotional bias</a:t>
            </a:r>
          </a:p>
          <a:p>
            <a:pPr>
              <a:spcAft>
                <a:spcPts val="800"/>
              </a:spcAft>
              <a:defRPr sz="1400"/>
            </a:pPr>
            <a:r>
              <a:t>• ✓ Scalable to multiple instruments</a:t>
            </a:r>
          </a:p>
          <a:p>
            <a:pPr>
              <a:spcAft>
                <a:spcPts val="800"/>
              </a:spcAft>
              <a:defRPr sz="1400"/>
            </a:pPr>
            <a:r>
              <a:t>• ✓ 11 years of backtested data (2015‑2026)</a:t>
            </a:r>
          </a:p>
          <a:p>
            <a:pPr>
              <a:spcAft>
                <a:spcPts val="800"/>
              </a:spcAft>
              <a:defRPr sz="1400"/>
            </a:pPr>
            <a:r>
              <a:t>• ✓ Risk management built‑in</a:t>
            </a:r>
          </a:p>
          <a:p>
            <a:pPr>
              <a:spcAft>
                <a:spcPts val="800"/>
              </a:spcAft>
              <a:defRPr sz="1400"/>
            </a:pPr>
          </a:p>
          <a:p>
            <a:pPr>
              <a:spcAft>
                <a:spcPts val="800"/>
              </a:spcAft>
              <a:defRPr sz="1400"/>
            </a:pPr>
            <a:r>
              <a:t>• ROI POTENTIAL (based on ₹10,00,000 capital):</a:t>
            </a:r>
          </a:p>
          <a:p>
            <a:pPr>
              <a:spcAft>
                <a:spcPts val="800"/>
              </a:spcAft>
              <a:defRPr sz="1400"/>
            </a:pPr>
            <a:r>
              <a:t>• • Best fold (Mar 2020): +79% return</a:t>
            </a:r>
          </a:p>
          <a:p>
            <a:pPr>
              <a:spcAft>
                <a:spcPts val="800"/>
              </a:spcAft>
              <a:defRPr sz="1400"/>
            </a:pPr>
            <a:r>
              <a:t>• • Average fold (2019‑2020): +15.6% return</a:t>
            </a:r>
          </a:p>
          <a:p>
            <a:pPr>
              <a:spcAft>
                <a:spcPts val="800"/>
              </a:spcAft>
              <a:defRPr sz="1400"/>
            </a:pPr>
            <a:r>
              <a:t>• • Conservative estimate: 10‑20% annualized in trending markets</a:t>
            </a:r>
          </a:p>
          <a:p>
            <a:pPr>
              <a:spcAft>
                <a:spcPts val="800"/>
              </a:spcAft>
              <a:defRPr sz="1400"/>
            </a:pPr>
          </a:p>
          <a:p>
            <a:pPr>
              <a:spcAft>
                <a:spcPts val="800"/>
              </a:spcAft>
              <a:defRPr sz="1400"/>
            </a:pPr>
            <a:r>
              <a:t>• ⚠️ Note: Past performance not guarantee of future results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1277295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✅ Strengths &amp; ❌ Weaknesses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05840"/>
            <a:ext cx="11277295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800"/>
              </a:spcAft>
              <a:defRPr sz="1400"/>
            </a:pPr>
            <a:r>
              <a:t>• STRENGTHS:</a:t>
            </a:r>
          </a:p>
          <a:p>
            <a:pPr>
              <a:spcAft>
                <a:spcPts val="800"/>
              </a:spcAft>
              <a:defRPr sz="1400"/>
            </a:pPr>
            <a:r>
              <a:t>• • Excellent in trending/high volatility markets (COVID crash: +792k profit)</a:t>
            </a:r>
          </a:p>
          <a:p>
            <a:pPr>
              <a:spcAft>
                <a:spcPts val="800"/>
              </a:spcAft>
              <a:defRPr sz="1400"/>
            </a:pPr>
            <a:r>
              <a:t>• • High risk‑reward ratio (1.81) – winners 1.8x losers</a:t>
            </a:r>
          </a:p>
          <a:p>
            <a:pPr>
              <a:spcAft>
                <a:spcPts val="800"/>
              </a:spcAft>
              <a:defRPr sz="1400"/>
            </a:pPr>
            <a:r>
              <a:t>• • Robust 102‑fold walk‑forward validation (no look‑ahead bias)</a:t>
            </a:r>
          </a:p>
          <a:p>
            <a:pPr>
              <a:spcAft>
                <a:spcPts val="800"/>
              </a:spcAft>
              <a:defRPr sz="1400"/>
            </a:pPr>
            <a:r>
              <a:t>• • Complete risk management &amp; logging infrastructure</a:t>
            </a:r>
          </a:p>
          <a:p>
            <a:pPr>
              <a:spcAft>
                <a:spcPts val="800"/>
              </a:spcAft>
              <a:defRPr sz="1400"/>
            </a:pPr>
            <a:r>
              <a:t>• • Ready for live deployment with API and alerts</a:t>
            </a:r>
          </a:p>
          <a:p>
            <a:pPr>
              <a:spcAft>
                <a:spcPts val="800"/>
              </a:spcAft>
              <a:defRPr sz="1400"/>
            </a:pPr>
          </a:p>
          <a:p>
            <a:pPr>
              <a:spcAft>
                <a:spcPts val="800"/>
              </a:spcAft>
              <a:defRPr sz="1400"/>
            </a:pPr>
            <a:r>
              <a:t>• WEAKNESSES:</a:t>
            </a:r>
          </a:p>
          <a:p>
            <a:pPr>
              <a:spcAft>
                <a:spcPts val="800"/>
              </a:spcAft>
              <a:defRPr sz="1400"/>
            </a:pPr>
            <a:r>
              <a:t>• • Fails in consolidation/sideways markets (e.g., Aug 2021: -43k)</a:t>
            </a:r>
          </a:p>
          <a:p>
            <a:pPr>
              <a:spcAft>
                <a:spcPts val="800"/>
              </a:spcAft>
              <a:defRPr sz="1400"/>
            </a:pPr>
            <a:r>
              <a:t>• • Low win rate (23.3%) – requires psychological discipline</a:t>
            </a:r>
          </a:p>
          <a:p>
            <a:pPr>
              <a:spcAft>
                <a:spcPts val="800"/>
              </a:spcAft>
              <a:defRPr sz="1400"/>
            </a:pPr>
            <a:r>
              <a:t>• • Negative Sharpe ratio (-0.26) – risk‑adjusted returns need improvement</a:t>
            </a:r>
          </a:p>
          <a:p>
            <a:pPr>
              <a:spcAft>
                <a:spcPts val="800"/>
              </a:spcAft>
              <a:defRPr sz="1400"/>
            </a:pPr>
            <a:r>
              <a:t>• • Stop loss hit too frequently (76.7%)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1277295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🎯 Recommendations &amp; Next Steps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05840"/>
            <a:ext cx="11277295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800"/>
              </a:spcAft>
              <a:defRPr sz="1400"/>
            </a:pPr>
            <a:r>
              <a:t>• IMMEDIATE (1‑2 weeks):</a:t>
            </a:r>
          </a:p>
          <a:p>
            <a:pPr>
              <a:spcAft>
                <a:spcPts val="800"/>
              </a:spcAft>
              <a:defRPr sz="1400"/>
            </a:pPr>
            <a:r>
              <a:t>• • Widen stop loss from 0.25% → 0.35% to reduce false exits</a:t>
            </a:r>
          </a:p>
          <a:p>
            <a:pPr>
              <a:spcAft>
                <a:spcPts val="800"/>
              </a:spcAft>
              <a:defRPr sz="1400"/>
            </a:pPr>
            <a:r>
              <a:t>• • Add volatility filter: trade only when ATR &gt; 0.5%</a:t>
            </a:r>
          </a:p>
          <a:p>
            <a:pPr>
              <a:spcAft>
                <a:spcPts val="800"/>
              </a:spcAft>
              <a:defRPr sz="1400"/>
            </a:pPr>
            <a:r>
              <a:t>• • Implement regime detection: avoid consolidation (ADX &lt; 20)</a:t>
            </a:r>
          </a:p>
          <a:p>
            <a:pPr>
              <a:spcAft>
                <a:spcPts val="800"/>
              </a:spcAft>
              <a:defRPr sz="1400"/>
            </a:pPr>
          </a:p>
          <a:p>
            <a:pPr>
              <a:spcAft>
                <a:spcPts val="800"/>
              </a:spcAft>
              <a:defRPr sz="1400"/>
            </a:pPr>
            <a:r>
              <a:t>• MEDIUM‑TERM (1‑2 months):</a:t>
            </a:r>
          </a:p>
          <a:p>
            <a:pPr>
              <a:spcAft>
                <a:spcPts val="800"/>
              </a:spcAft>
              <a:defRPr sz="1400"/>
            </a:pPr>
            <a:r>
              <a:t>• • Ensemble with trend‑following model to improve win rate</a:t>
            </a:r>
          </a:p>
          <a:p>
            <a:pPr>
              <a:spcAft>
                <a:spcPts val="800"/>
              </a:spcAft>
              <a:defRPr sz="1400"/>
            </a:pPr>
            <a:r>
              <a:t>• • Dynamic position sizing based on confidence score</a:t>
            </a:r>
          </a:p>
          <a:p>
            <a:pPr>
              <a:spcAft>
                <a:spcPts val="800"/>
              </a:spcAft>
              <a:defRPr sz="1400"/>
            </a:pPr>
            <a:r>
              <a:t>• • Add sector correlation check</a:t>
            </a:r>
          </a:p>
          <a:p>
            <a:pPr>
              <a:spcAft>
                <a:spcPts val="800"/>
              </a:spcAft>
              <a:defRPr sz="1400"/>
            </a:pPr>
          </a:p>
          <a:p>
            <a:pPr>
              <a:spcAft>
                <a:spcPts val="800"/>
              </a:spcAft>
              <a:defRPr sz="1400"/>
            </a:pPr>
            <a:r>
              <a:t>• LONG‑TERM (3+ months):</a:t>
            </a:r>
          </a:p>
          <a:p>
            <a:pPr>
              <a:spcAft>
                <a:spcPts val="800"/>
              </a:spcAft>
              <a:defRPr sz="1400"/>
            </a:pPr>
            <a:r>
              <a:t>• • LSTM for regime prediction</a:t>
            </a:r>
          </a:p>
          <a:p>
            <a:pPr>
              <a:spcAft>
                <a:spcPts val="800"/>
              </a:spcAft>
              <a:defRPr sz="1400"/>
            </a:pPr>
            <a:r>
              <a:t>• • Real‑time broker integration (Zerodha API)</a:t>
            </a:r>
          </a:p>
          <a:p>
            <a:pPr>
              <a:spcAft>
                <a:spcPts val="800"/>
              </a:spcAft>
              <a:defRPr sz="1400"/>
            </a:pPr>
            <a:r>
              <a:t>• • Risk module with daily loss limit and drawdown circuit breakers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1277295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🎯 Success Criteria &amp; Roadmap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05840"/>
            <a:ext cx="11277295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800"/>
              </a:spcAft>
              <a:defRPr sz="1400"/>
            </a:pPr>
            <a:r>
              <a:t>• CURRENT vs TARGET:</a:t>
            </a:r>
          </a:p>
          <a:p>
            <a:pPr>
              <a:spcAft>
                <a:spcPts val="800"/>
              </a:spcAft>
              <a:defRPr sz="1400"/>
            </a:pPr>
            <a:r>
              <a:t>•    Metric              Current          Target</a:t>
            </a:r>
          </a:p>
          <a:p>
            <a:pPr>
              <a:spcAft>
                <a:spcPts val="800"/>
              </a:spcAft>
              <a:defRPr sz="1400"/>
            </a:pPr>
            <a:r>
              <a:t>•    ─────────────────────────────────────────────────</a:t>
            </a:r>
          </a:p>
          <a:p>
            <a:pPr>
              <a:spcAft>
                <a:spcPts val="800"/>
              </a:spcAft>
              <a:defRPr sz="1400"/>
            </a:pPr>
            <a:r>
              <a:t>•    Sharpe Ratio        -0.26      →     &gt; 0.50</a:t>
            </a:r>
          </a:p>
          <a:p>
            <a:pPr>
              <a:spcAft>
                <a:spcPts val="800"/>
              </a:spcAft>
              <a:defRPr sz="1400"/>
            </a:pPr>
            <a:r>
              <a:t>•    Win Rate            23.3%      →     &gt; 30%</a:t>
            </a:r>
          </a:p>
          <a:p>
            <a:pPr>
              <a:spcAft>
                <a:spcPts val="800"/>
              </a:spcAft>
              <a:defRPr sz="1400"/>
            </a:pPr>
            <a:r>
              <a:t>•    Max Drawdown        -8,865     →     &lt; -5,000</a:t>
            </a:r>
          </a:p>
          <a:p>
            <a:pPr>
              <a:spcAft>
                <a:spcPts val="800"/>
              </a:spcAft>
              <a:defRPr sz="1400"/>
            </a:pPr>
            <a:r>
              <a:t>•    Risk‑Reward         1.81       →     &gt; 2.0</a:t>
            </a:r>
          </a:p>
          <a:p>
            <a:pPr>
              <a:spcAft>
                <a:spcPts val="800"/>
              </a:spcAft>
              <a:defRPr sz="1400"/>
            </a:pPr>
            <a:r>
              <a:t>•    Stop Loss Hits      76.7%      →     &lt; 65%</a:t>
            </a:r>
          </a:p>
          <a:p>
            <a:pPr>
              <a:spcAft>
                <a:spcPts val="800"/>
              </a:spcAft>
              <a:defRPr sz="1400"/>
            </a:pPr>
          </a:p>
          <a:p>
            <a:pPr>
              <a:spcAft>
                <a:spcPts val="800"/>
              </a:spcAft>
              <a:defRPr sz="1400"/>
            </a:pPr>
            <a:r>
              <a:t>• IMPLEMENTATION ROADMAP:</a:t>
            </a:r>
          </a:p>
          <a:p>
            <a:pPr>
              <a:spcAft>
                <a:spcPts val="800"/>
              </a:spcAft>
              <a:defRPr sz="1400"/>
            </a:pPr>
            <a:r>
              <a:t>•    Week 1:  Optimize stop loss (0.25% → 0.35%)</a:t>
            </a:r>
          </a:p>
          <a:p>
            <a:pPr>
              <a:spcAft>
                <a:spcPts val="800"/>
              </a:spcAft>
              <a:defRPr sz="1400"/>
            </a:pPr>
            <a:r>
              <a:t>•    Week 2:  Paper trade new parameters</a:t>
            </a:r>
          </a:p>
          <a:p>
            <a:pPr>
              <a:spcAft>
                <a:spcPts val="800"/>
              </a:spcAft>
              <a:defRPr sz="1400"/>
            </a:pPr>
            <a:r>
              <a:t>•    Week 3:  Add ADX regime filter</a:t>
            </a:r>
          </a:p>
          <a:p>
            <a:pPr>
              <a:spcAft>
                <a:spcPts val="800"/>
              </a:spcAft>
              <a:defRPr sz="1400"/>
            </a:pPr>
            <a:r>
              <a:t>•    Week 4:  Retrain model with 2025‑2026 data</a:t>
            </a:r>
          </a:p>
          <a:p>
            <a:pPr>
              <a:spcAft>
                <a:spcPts val="800"/>
              </a:spcAft>
              <a:defRPr sz="1400"/>
            </a:pPr>
            <a:r>
              <a:t>•    Month 2: Live deployment with small capital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1277295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📁 Project Deliverables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05840"/>
            <a:ext cx="11277295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800"/>
              </a:spcAft>
              <a:defRPr sz="1400"/>
            </a:pPr>
            <a:r>
              <a:t>• CODE &amp; MODULES:</a:t>
            </a:r>
          </a:p>
          <a:p>
            <a:pPr>
              <a:spcAft>
                <a:spcPts val="800"/>
              </a:spcAft>
              <a:defRPr sz="1400"/>
            </a:pPr>
            <a:r>
              <a:t>• • src/strategy/strategy.py – signal generation, exits</a:t>
            </a:r>
          </a:p>
          <a:p>
            <a:pPr>
              <a:spcAft>
                <a:spcPts val="800"/>
              </a:spcAft>
              <a:defRPr sz="1400"/>
            </a:pPr>
            <a:r>
              <a:t>• • src/risk/risk_manager.py – daily loss, drawdown, position sizing</a:t>
            </a:r>
          </a:p>
          <a:p>
            <a:pPr>
              <a:spcAft>
                <a:spcPts val="800"/>
              </a:spcAft>
              <a:defRPr sz="1400"/>
            </a:pPr>
            <a:r>
              <a:t>• • src/db/database.py – SQLite trade logging</a:t>
            </a:r>
          </a:p>
          <a:p>
            <a:pPr>
              <a:spcAft>
                <a:spcPts val="800"/>
              </a:spcAft>
              <a:defRPr sz="1400"/>
            </a:pPr>
            <a:r>
              <a:t>• • src/utils/logger.py – rotating file + console logging</a:t>
            </a:r>
          </a:p>
          <a:p>
            <a:pPr>
              <a:spcAft>
                <a:spcPts val="800"/>
              </a:spcAft>
              <a:defRPr sz="1400"/>
            </a:pPr>
            <a:r>
              <a:t>• • src/notifications/alert.py – Telegram/Slack alerts</a:t>
            </a:r>
          </a:p>
          <a:p>
            <a:pPr>
              <a:spcAft>
                <a:spcPts val="800"/>
              </a:spcAft>
              <a:defRPr sz="1400"/>
            </a:pPr>
          </a:p>
          <a:p>
            <a:pPr>
              <a:spcAft>
                <a:spcPts val="800"/>
              </a:spcAft>
              <a:defRPr sz="1400"/>
            </a:pPr>
            <a:r>
              <a:t>• CONFIGS:</a:t>
            </a:r>
          </a:p>
          <a:p>
            <a:pPr>
              <a:spcAft>
                <a:spcPts val="800"/>
              </a:spcAft>
              <a:defRPr sz="1400"/>
            </a:pPr>
            <a:r>
              <a:t>• • configs/strategy_config.yaml, model_config.yaml</a:t>
            </a:r>
          </a:p>
          <a:p>
            <a:pPr>
              <a:spcAft>
                <a:spcPts val="800"/>
              </a:spcAft>
              <a:defRPr sz="1400"/>
            </a:pPr>
          </a:p>
          <a:p>
            <a:pPr>
              <a:spcAft>
                <a:spcPts val="800"/>
              </a:spcAft>
              <a:defRPr sz="1400"/>
            </a:pPr>
            <a:r>
              <a:t>• REPORTS &amp; CHARTS:</a:t>
            </a:r>
          </a:p>
          <a:p>
            <a:pPr>
              <a:spcAft>
                <a:spcPts val="800"/>
              </a:spcAft>
              <a:defRPr sz="1400"/>
            </a:pPr>
            <a:r>
              <a:t>• • equity_curve.png, drawdown_curve.png, monthly_profit_chart.png</a:t>
            </a:r>
          </a:p>
          <a:p>
            <a:pPr>
              <a:spcAft>
                <a:spcPts val="800"/>
              </a:spcAft>
              <a:defRPr sz="1400"/>
            </a:pPr>
            <a:r>
              <a:t>• • walk_forward_results.csv, backtest_optimization_results.csv</a:t>
            </a:r>
          </a:p>
          <a:p>
            <a:pPr>
              <a:spcAft>
                <a:spcPts val="800"/>
              </a:spcAft>
              <a:defRPr sz="1400"/>
            </a:pPr>
            <a:r>
              <a:t>• • quant_performance_report.md</a:t>
            </a:r>
          </a:p>
          <a:p>
            <a:pPr>
              <a:spcAft>
                <a:spcPts val="800"/>
              </a:spcAft>
              <a:defRPr sz="1400"/>
            </a:pPr>
          </a:p>
          <a:p>
            <a:pPr>
              <a:spcAft>
                <a:spcPts val="800"/>
              </a:spcAft>
              <a:defRPr sz="1400"/>
            </a:pPr>
            <a:r>
              <a:t>• TRADE LOGS:</a:t>
            </a:r>
          </a:p>
          <a:p>
            <a:pPr>
              <a:spcAft>
                <a:spcPts val="800"/>
              </a:spcAft>
              <a:defRPr sz="1400"/>
            </a:pPr>
            <a:r>
              <a:t>• • trade_logs/trade_logs.csv (86 trades)</a:t>
            </a:r>
          </a:p>
          <a:p>
            <a:pPr>
              <a:spcAft>
                <a:spcPts val="800"/>
              </a:spcAft>
              <a:defRPr sz="1400"/>
            </a:pPr>
            <a:r>
              <a:t>• • trade_logs/trading.db (SQLite database)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1277295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⚠️ Important Disclaimer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05840"/>
            <a:ext cx="11277295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800"/>
              </a:spcAft>
              <a:defRPr sz="1400"/>
            </a:pPr>
            <a:r>
              <a:t>• This presentation and the associated trading system are for **research, educational, and portfolio purposes only**.</a:t>
            </a:r>
          </a:p>
          <a:p>
            <a:pPr>
              <a:spcAft>
                <a:spcPts val="800"/>
              </a:spcAft>
              <a:defRPr sz="1400"/>
            </a:pPr>
          </a:p>
          <a:p>
            <a:pPr>
              <a:spcAft>
                <a:spcPts val="800"/>
              </a:spcAft>
              <a:defRPr sz="1400"/>
            </a:pPr>
            <a:r>
              <a:t>• Past performance (historical backtesting and paper trading) does not guarantee future results.</a:t>
            </a:r>
          </a:p>
          <a:p>
            <a:pPr>
              <a:spcAft>
                <a:spcPts val="800"/>
              </a:spcAft>
              <a:defRPr sz="1400"/>
            </a:pPr>
          </a:p>
          <a:p>
            <a:pPr>
              <a:spcAft>
                <a:spcPts val="800"/>
              </a:spcAft>
              <a:defRPr sz="1400"/>
            </a:pPr>
            <a:r>
              <a:t>• The strategy currently shows significant drawdown, negative Sharpe ratio, and low win rate. It is **not financial advice**.</a:t>
            </a:r>
          </a:p>
          <a:p>
            <a:pPr>
              <a:spcAft>
                <a:spcPts val="800"/>
              </a:spcAft>
              <a:defRPr sz="1400"/>
            </a:pPr>
          </a:p>
          <a:p>
            <a:pPr>
              <a:spcAft>
                <a:spcPts val="800"/>
              </a:spcAft>
              <a:defRPr sz="1400"/>
            </a:pPr>
            <a:r>
              <a:t>• Do not deploy live capital without extensive paper trading, risk assessment, and professional consultation.</a:t>
            </a:r>
          </a:p>
          <a:p>
            <a:pPr>
              <a:spcAft>
                <a:spcPts val="800"/>
              </a:spcAft>
              <a:defRPr sz="1400"/>
            </a:pPr>
          </a:p>
          <a:p>
            <a:pPr>
              <a:spcAft>
                <a:spcPts val="800"/>
              </a:spcAft>
              <a:defRPr sz="1400"/>
            </a:pPr>
            <a:r>
              <a:t>• All parameters, signals, and results are illustrative and may not reflect actual market conditions.</a:t>
            </a:r>
          </a:p>
          <a:p>
            <a:pPr>
              <a:spcAft>
                <a:spcPts val="800"/>
              </a:spcAft>
              <a:defRPr sz="1400"/>
            </a:pPr>
          </a:p>
          <a:p>
            <a:pPr>
              <a:spcAft>
                <a:spcPts val="800"/>
              </a:spcAft>
              <a:defRPr sz="1400"/>
            </a:pPr>
            <a:r>
              <a:t>• The developer assumes no liability for any financial losses incurred through use of this system.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0"/>
            <a:ext cx="11277295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000" b="1"/>
            </a:pPr>
            <a:r>
              <a:t>Thank You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320040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/>
            </a:pPr>
            <a:r>
              <a:t>Questions? | Let's Build the Future of Algorithmic Trading Together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217920"/>
            <a:ext cx="1127729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/>
            </a:pPr>
            <a:r>
              <a:t>June 12, 2026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