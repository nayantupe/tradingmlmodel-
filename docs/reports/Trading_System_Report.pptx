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Algorithmic Trading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Machine Learning Strategy | Walk-Forward Validation (2015-2026)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June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📊 KEY METRICS (Recent Period: Jan-Mar 2026)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• Total Trades: 86              • Win Rate: 23.26%</a:t>
            </a:r>
          </a:p>
          <a:p>
            <a:pPr>
              <a:spcAft>
                <a:spcPts val="600"/>
              </a:spcAft>
              <a:defRPr sz="1400"/>
            </a:pPr>
            <a:r>
              <a:t>   • Total Net Profit: -7,132.42   • Risk-Reward Ratio: 1.81</a:t>
            </a:r>
          </a:p>
          <a:p>
            <a:pPr>
              <a:spcAft>
                <a:spcPts val="600"/>
              </a:spcAft>
              <a:defRPr sz="1400"/>
            </a:pPr>
            <a:r>
              <a:t>   • Best Trade: +685.28           • Worst Trade: -259.91</a:t>
            </a:r>
          </a:p>
          <a:p>
            <a:pPr>
              <a:spcAft>
                <a:spcPts val="600"/>
              </a:spcAft>
              <a:defRPr sz="1400"/>
            </a:pPr>
            <a:r>
              <a:t>   • Sharpe Ratio: -0.26           • Max Drawdown: -8,865.47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📈 STRATEGY INTERPRETATION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✓ Low win rate (23.3%) but positive risk-reward ratio (1.81)</a:t>
            </a:r>
          </a:p>
          <a:p>
            <a:pPr>
              <a:spcAft>
                <a:spcPts val="600"/>
              </a:spcAft>
              <a:defRPr sz="1400"/>
            </a:pPr>
            <a:r>
              <a:t>✓ Strategy focuses on asymmetric reward-risk behavior</a:t>
            </a:r>
          </a:p>
          <a:p>
            <a:pPr>
              <a:spcAft>
                <a:spcPts val="600"/>
              </a:spcAft>
              <a:defRPr sz="1400"/>
            </a:pPr>
            <a:r>
              <a:t>✓ Best performance during high volatility regimes (COVID crash)</a:t>
            </a:r>
          </a:p>
          <a:p>
            <a:pPr>
              <a:spcAft>
                <a:spcPts val="600"/>
              </a:spcAft>
              <a:defRPr sz="1400"/>
            </a:pPr>
            <a:r>
              <a:t>✗ Underperforms in consolidation &amp; low volatility periods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🏆 Best Walk-Forward Folds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4008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0"/>
            <a:ext cx="118872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097280"/>
            <a:ext cx="82296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Trades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097280"/>
            <a:ext cx="9144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Win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100584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Avg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Mar 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08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792,433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3,101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508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54.3%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255.5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74519"/>
            <a:ext cx="6400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874519"/>
            <a:ext cx="100584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Apr-May 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874519"/>
            <a:ext cx="11887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640,484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74519"/>
            <a:ext cx="82296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874519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94.9%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874519"/>
            <a:ext cx="100584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640.5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2402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2402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Aug-Sep 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2402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487,843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2402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739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97.0%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2402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660.1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606040"/>
            <a:ext cx="6400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606040"/>
            <a:ext cx="100584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Jan 2016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2606040"/>
            <a:ext cx="11887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449,302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606040"/>
            <a:ext cx="82296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260604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99.5%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606040"/>
            <a:ext cx="100584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684.9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71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29718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Oct-Nov 2017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2971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357,440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971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534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2971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97.9%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9718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669.4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337560"/>
            <a:ext cx="6400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3337560"/>
            <a:ext cx="100584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Jan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3337560"/>
            <a:ext cx="11887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349,742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3337560"/>
            <a:ext cx="82296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541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33756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95.8%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3337560"/>
            <a:ext cx="100584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646.5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7033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3703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Jul-Aug 2018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37033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321,564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37033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493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3703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96.2%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3703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652.3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⚠️ Worst Walk-Forward Folds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4008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0"/>
            <a:ext cx="118872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097280"/>
            <a:ext cx="82296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Trades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097280"/>
            <a:ext cx="9144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Win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13716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087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 2016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08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-85,238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508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0.6%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Demonetization Crash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74519"/>
            <a:ext cx="6400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874519"/>
            <a:ext cx="100584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Aug 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874519"/>
            <a:ext cx="11887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-43,640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74519"/>
            <a:ext cx="82296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874519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3.1%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874519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Low Volatility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2402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2402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Sep-Oct 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2402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-26,513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2402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12.2%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Sideways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606040"/>
            <a:ext cx="6400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606040"/>
            <a:ext cx="100584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Jan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2606040"/>
            <a:ext cx="11887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-2,260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606040"/>
            <a:ext cx="82296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260604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21.1%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60604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Drawdown Period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71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29718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Jun 2019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2971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-1,650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971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2971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21.9%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971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Consolidation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🔧 Optimal Strategy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Parameter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109728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Optimal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097280"/>
            <a:ext cx="13716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Range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097280"/>
            <a:ext cx="164592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Confidence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0.50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0.45 - 0.55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Filters low-quality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Stop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0.25%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874519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0.15% - 0.25%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874519"/>
            <a:ext cx="16459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Limits downside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Target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0.70%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0.30% - 0.70%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2402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Profit taking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0604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Max Hold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60604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45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60604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15 - 45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606040"/>
            <a:ext cx="16459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Time-based exit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71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Position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971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Variable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971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Based on confidence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971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Risk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33756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Risk-Reward Ratio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33756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2.8:1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3756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Target/Stop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337560"/>
            <a:ext cx="164592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Asymmetric returns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🧠 Feature Engineering (20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📈 TREND FEATURES                    📊 MOMENTUM FEATURES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   • ma_10, ma_20                      • rsi (Relative Strength)</a:t>
            </a:r>
          </a:p>
          <a:p>
            <a:pPr>
              <a:spcAft>
                <a:spcPts val="600"/>
              </a:spcAft>
              <a:defRPr sz="1400"/>
            </a:pPr>
            <a:r>
              <a:t>   • trend_strength                    • momentum</a:t>
            </a:r>
          </a:p>
          <a:p>
            <a:pPr>
              <a:spcAft>
                <a:spcPts val="600"/>
              </a:spcAft>
              <a:defRPr sz="1400"/>
            </a:pPr>
            <a:r>
              <a:t>   • uptrend (binary)                  • price_change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📉 VOLATILITY FEATURES               💰 VOLUME FEATURES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   • volatility (rolling)              • volume_spike</a:t>
            </a:r>
          </a:p>
          <a:p>
            <a:pPr>
              <a:spcAft>
                <a:spcPts val="600"/>
              </a:spcAft>
              <a:defRPr sz="1400"/>
            </a:pPr>
            <a:r>
              <a:t>   • atr (Average True Range)           • high_volume (binary)</a:t>
            </a:r>
          </a:p>
          <a:p>
            <a:pPr>
              <a:spcAft>
                <a:spcPts val="600"/>
              </a:spcAft>
              <a:defRPr sz="1400"/>
            </a:pPr>
            <a:r>
              <a:t>   • atr_pct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🎯 PRICE ACTION                       🔬 MARKET MICRO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   • candle_body_pct                   • orb_breakout/breakdown</a:t>
            </a:r>
          </a:p>
          <a:p>
            <a:pPr>
              <a:spcAft>
                <a:spcPts val="600"/>
              </a:spcAft>
              <a:defRPr sz="1400"/>
            </a:pPr>
            <a:r>
              <a:t>   • vwap, above_vwap                  • near_prev_day_high/low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📅 Monthly Performance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📆 JANUARY 2026:     -985.19  (Loss)</a:t>
            </a:r>
          </a:p>
          <a:p>
            <a:pPr>
              <a:spcAft>
                <a:spcPts val="600"/>
              </a:spcAft>
              <a:defRPr sz="1400"/>
            </a:pPr>
            <a:r>
              <a:t>   📆 FEBRUARY 2026:    -6,230.79 (Loss)</a:t>
            </a:r>
          </a:p>
          <a:p>
            <a:pPr>
              <a:spcAft>
                <a:spcPts val="600"/>
              </a:spcAft>
              <a:defRPr sz="1400"/>
            </a:pPr>
            <a:r>
              <a:t>   📆 MARCH 2026:       +83.56   (Profit)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📊 TRADE DISTRIBUTION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• Total Trades: 86</a:t>
            </a:r>
          </a:p>
          <a:p>
            <a:pPr>
              <a:spcAft>
                <a:spcPts val="600"/>
              </a:spcAft>
              <a:defRPr sz="1400"/>
            </a:pPr>
            <a:r>
              <a:t>   • Winning Trades: 20 (23.3%)</a:t>
            </a:r>
          </a:p>
          <a:p>
            <a:pPr>
              <a:spcAft>
                <a:spcPts val="600"/>
              </a:spcAft>
              <a:defRPr sz="1400"/>
            </a:pPr>
            <a:r>
              <a:t>   • Losing Trades: 66 (76.7%)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💰 SAMPLE WINNING TRADE (Feb 6, 2026)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   • Stock: TCS | Entry: 2,921.20 | Exit: 2,941.65</a:t>
            </a:r>
          </a:p>
          <a:p>
            <a:pPr>
              <a:spcAft>
                <a:spcPts val="600"/>
              </a:spcAft>
              <a:defRPr sz="1400"/>
            </a:pPr>
            <a:r>
              <a:t>   • Profit: +685.28 | Exit Reason: Target Hit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🚪 Trade Exit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Exit Reason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9144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97280"/>
            <a:ext cx="109728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Percentage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097280"/>
            <a:ext cx="109728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Avg Profit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097280"/>
            <a:ext cx="109728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Best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Stop Loss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08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76.7%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-254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-259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Time Exit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874519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14.0%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+45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+498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Target Hit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9.3%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+498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+685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📉 Risk Metrics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109728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097280"/>
            <a:ext cx="22860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9144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Sharpe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-0.26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08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Negative risk-adjusted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508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⚠️ Poor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Win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23.3%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874519"/>
            <a:ext cx="22860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Low but R:R 1.81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874519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⚡ Acceptable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Risk-Reward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1.81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240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Winners 1.8x losers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✅ Good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0604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Max Drawdown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60604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-8,865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606040"/>
            <a:ext cx="22860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-8.9% of capital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60604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⚠️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71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Avg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971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-254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971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Consistent stop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971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✅ Controlled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33756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Avg Win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33756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+460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37560"/>
            <a:ext cx="22860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1.8x average 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33756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✅ Asymmetric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📈 Walk-Forward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Year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13716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Avg Fold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109728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Avg Win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097280"/>
            <a:ext cx="914400" cy="36576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# Folds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2015-2016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45,231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508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58.2%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2017-2018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74519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52,184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874519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2019-2020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240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156,342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240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65.3%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0604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2021-2022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60604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52,871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60604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55.8%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60604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71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2023-2024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971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38,294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971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68.2%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971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33756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2025-2026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337560"/>
            <a:ext cx="13716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41,234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337560"/>
            <a:ext cx="109728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66.1%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337560"/>
            <a:ext cx="914400" cy="3657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100"/>
            </a:pPr>
            <a:r>
              <a:t>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✅ Strengths &amp; ❌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✅ STRENGTHS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   • Excellent performance in trending/high volatility markets</a:t>
            </a:r>
          </a:p>
          <a:p>
            <a:pPr>
              <a:spcAft>
                <a:spcPts val="600"/>
              </a:spcAft>
              <a:defRPr sz="1400"/>
            </a:pPr>
            <a:r>
              <a:t>   • High risk-reward ratio (1.81) - winners are 1.8x losers</a:t>
            </a:r>
          </a:p>
          <a:p>
            <a:pPr>
              <a:spcAft>
                <a:spcPts val="600"/>
              </a:spcAft>
              <a:defRPr sz="1400"/>
            </a:pPr>
            <a:r>
              <a:t>   • 20 diverse features covering multiple market dimensions</a:t>
            </a:r>
          </a:p>
          <a:p>
            <a:pPr>
              <a:spcAft>
                <a:spcPts val="600"/>
              </a:spcAft>
              <a:defRPr sz="1400"/>
            </a:pPr>
            <a:r>
              <a:t>   • Robust validation: 102 walk-forward folds (2015-2026)</a:t>
            </a:r>
          </a:p>
          <a:p>
            <a:pPr>
              <a:spcAft>
                <a:spcPts val="600"/>
              </a:spcAft>
              <a:defRPr sz="1400"/>
            </a:pPr>
            <a:r>
              <a:t>   • Consistent stop loss execution (max loss ~-260 per trade)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❌ WEAKNESSES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   • Fails in consolidation/sideways markets</a:t>
            </a:r>
          </a:p>
          <a:p>
            <a:pPr>
              <a:spcAft>
                <a:spcPts val="600"/>
              </a:spcAft>
              <a:defRPr sz="1400"/>
            </a:pPr>
            <a:r>
              <a:t>   • Low win rate (23.3%) requires psychological discipline</a:t>
            </a:r>
          </a:p>
          <a:p>
            <a:pPr>
              <a:spcAft>
                <a:spcPts val="600"/>
              </a:spcAft>
              <a:defRPr sz="1400"/>
            </a:pPr>
            <a:r>
              <a:t>   • Negative Sharpe ratio (-0.26) indicates poor risk adjustment</a:t>
            </a:r>
          </a:p>
          <a:p>
            <a:pPr>
              <a:spcAft>
                <a:spcPts val="600"/>
              </a:spcAft>
              <a:defRPr sz="1400"/>
            </a:pPr>
            <a:r>
              <a:t>   • Stop loss hit too frequently (76.7% of trades)</a:t>
            </a:r>
          </a:p>
          <a:p>
            <a:pPr>
              <a:spcAft>
                <a:spcPts val="600"/>
              </a:spcAft>
              <a:defRPr sz="1400"/>
            </a:pPr>
            <a:r>
              <a:t>   • Recent drawdown (-8,865) not fully recovered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🎯 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🔴 IMMEDIATE IMPROVEMENTS (Next 1-2 weeks)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1. Adjust stop loss: 0.25% → 0.35% (reduce false exits from 76.7%)</a:t>
            </a:r>
          </a:p>
          <a:p>
            <a:pPr>
              <a:spcAft>
                <a:spcPts val="600"/>
              </a:spcAft>
              <a:defRPr sz="1400"/>
            </a:pPr>
            <a:r>
              <a:t>   2. Add volatility filter: Trade only when ATR &gt; 0.5%</a:t>
            </a:r>
          </a:p>
          <a:p>
            <a:pPr>
              <a:spcAft>
                <a:spcPts val="600"/>
              </a:spcAft>
              <a:defRPr sz="1400"/>
            </a:pPr>
            <a:r>
              <a:t>   3. Implement regime detection: Avoid consolidation (ADX &lt; 20)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🟡 MEDIUM-TERM (1-2 months)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4. Ensemble with trend-following model</a:t>
            </a:r>
          </a:p>
          <a:p>
            <a:pPr>
              <a:spcAft>
                <a:spcPts val="600"/>
              </a:spcAft>
              <a:defRPr sz="1400"/>
            </a:pPr>
            <a:r>
              <a:t>   5. Dynamic position sizing based on confidence score</a:t>
            </a:r>
          </a:p>
          <a:p>
            <a:pPr>
              <a:spcAft>
                <a:spcPts val="600"/>
              </a:spcAft>
              <a:defRPr sz="1400"/>
            </a:pPr>
            <a:r>
              <a:t>   6. Add sector correlation check for diversification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🟢 LONG-TERM (3+ months)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   7. Deep learning (LSTM) for regime prediction</a:t>
            </a:r>
          </a:p>
          <a:p>
            <a:pPr>
              <a:spcAft>
                <a:spcPts val="600"/>
              </a:spcAft>
              <a:defRPr sz="1400"/>
            </a:pPr>
            <a:r>
              <a:t>   8. Real-time broker integration (Zerodha API)</a:t>
            </a:r>
          </a:p>
          <a:p>
            <a:pPr>
              <a:spcAft>
                <a:spcPts val="600"/>
              </a:spcAft>
              <a:defRPr sz="1400"/>
            </a:pPr>
            <a:r>
              <a:t>   9. Risk management module (max daily loss: -2,000)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📡 Paper Trading Status (Current)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📊 LATEST SIGNALS (April 8, 2026 - TCS)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Time          Close    Confidence    Signal        Regime</a:t>
            </a:r>
          </a:p>
          <a:p>
            <a:pPr>
              <a:spcAft>
                <a:spcPts val="600"/>
              </a:spcAft>
              <a:defRPr sz="1400"/>
            </a:pPr>
            <a:r>
              <a:t>   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400"/>
            </a:pPr>
            <a:r>
              <a:t>   15:10:00     2,561.5     0.25        NO TRADE      Trending</a:t>
            </a:r>
          </a:p>
          <a:p>
            <a:pPr>
              <a:spcAft>
                <a:spcPts val="600"/>
              </a:spcAft>
              <a:defRPr sz="1400"/>
            </a:pPr>
            <a:r>
              <a:t>   15:15:00     2,558.3     0.32        NO TRADE      Trending</a:t>
            </a:r>
          </a:p>
          <a:p>
            <a:pPr>
              <a:spcAft>
                <a:spcPts val="600"/>
              </a:spcAft>
              <a:defRPr sz="1400"/>
            </a:pPr>
            <a:r>
              <a:t>   15:20:00     2,561.6     0.29        NO TRADE      Trending</a:t>
            </a:r>
          </a:p>
          <a:p>
            <a:pPr>
              <a:spcAft>
                <a:spcPts val="600"/>
              </a:spcAft>
              <a:defRPr sz="1400"/>
            </a:pPr>
            <a:r>
              <a:t>   15:25:00     2,560.0     0.26        NO TRADE      Trending</a:t>
            </a:r>
          </a:p>
          <a:p>
            <a:pPr>
              <a:spcAft>
                <a:spcPts val="600"/>
              </a:spcAft>
              <a:defRPr sz="1400"/>
            </a:pPr>
            <a:r>
              <a:t>   15:30:00     2,558.0     0.28        NO TRADE      Trending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🔍 OBSERVATIONS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• All confidences below threshold (0.50) → No active trades</a:t>
            </a:r>
          </a:p>
          <a:p>
            <a:pPr>
              <a:spcAft>
                <a:spcPts val="600"/>
              </a:spcAft>
              <a:defRPr sz="1400"/>
            </a:pPr>
            <a:r>
              <a:t>   • Market regime = 1 (Trending) but momentum weak</a:t>
            </a:r>
          </a:p>
          <a:p>
            <a:pPr>
              <a:spcAft>
                <a:spcPts val="600"/>
              </a:spcAft>
              <a:defRPr sz="1400"/>
            </a:pPr>
            <a:r>
              <a:t>   • Model waiting for stronger signal confirmation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🎯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CURRENT                          TARGET</a:t>
            </a:r>
          </a:p>
          <a:p>
            <a:pPr>
              <a:spcAft>
                <a:spcPts val="600"/>
              </a:spcAft>
              <a:defRPr sz="1400"/>
            </a:pPr>
            <a:r>
              <a:t>   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Sharpe Ratio:  -0.26      →     &gt; 0.50</a:t>
            </a:r>
          </a:p>
          <a:p>
            <a:pPr>
              <a:spcAft>
                <a:spcPts val="600"/>
              </a:spcAft>
              <a:defRPr sz="1400"/>
            </a:pPr>
            <a:r>
              <a:t>   Win Rate:      23.3%      →     &gt; 30%</a:t>
            </a:r>
          </a:p>
          <a:p>
            <a:pPr>
              <a:spcAft>
                <a:spcPts val="600"/>
              </a:spcAft>
              <a:defRPr sz="1400"/>
            </a:pPr>
            <a:r>
              <a:t>   Max Drawdown:  -8,865     →     &lt; -5,000 (5%)</a:t>
            </a:r>
          </a:p>
          <a:p>
            <a:pPr>
              <a:spcAft>
                <a:spcPts val="600"/>
              </a:spcAft>
              <a:defRPr sz="1400"/>
            </a:pPr>
            <a:r>
              <a:t>   Risk-Reward:   1.81       →     &gt; 2.0</a:t>
            </a:r>
          </a:p>
          <a:p>
            <a:pPr>
              <a:spcAft>
                <a:spcPts val="600"/>
              </a:spcAft>
              <a:defRPr sz="1400"/>
            </a:pPr>
            <a:r>
              <a:t>   Stop Loss Hits: 76.7%     →     &lt; 65%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📋 IMPLEMENTATION ROADMAP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Week 1:  Optimize stop loss (0.25% → 0.35%)</a:t>
            </a:r>
          </a:p>
          <a:p>
            <a:pPr>
              <a:spcAft>
                <a:spcPts val="600"/>
              </a:spcAft>
              <a:defRPr sz="1400"/>
            </a:pPr>
            <a:r>
              <a:t>   Week 2:  Paper trade new parameters</a:t>
            </a:r>
          </a:p>
          <a:p>
            <a:pPr>
              <a:spcAft>
                <a:spcPts val="600"/>
              </a:spcAft>
              <a:defRPr sz="1400"/>
            </a:pPr>
            <a:r>
              <a:t>   Week 3:  Add ADX regime filter</a:t>
            </a:r>
          </a:p>
          <a:p>
            <a:pPr>
              <a:spcAft>
                <a:spcPts val="600"/>
              </a:spcAft>
              <a:defRPr sz="1400"/>
            </a:pPr>
            <a:r>
              <a:t>   Week 4:  Retrain model with 2025-2026 data</a:t>
            </a:r>
          </a:p>
          <a:p>
            <a:pPr>
              <a:spcAft>
                <a:spcPts val="600"/>
              </a:spcAft>
              <a:defRPr sz="1400"/>
            </a:pPr>
            <a:r>
              <a:t>   Month 2: Live deployment with small capital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📁 Output Files Generated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📊 RESULTS / CHARTS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   • results/equity_curve.png          - Cumulative P&amp;L</a:t>
            </a:r>
          </a:p>
          <a:p>
            <a:pPr>
              <a:spcAft>
                <a:spcPts val="600"/>
              </a:spcAft>
              <a:defRPr sz="1400"/>
            </a:pPr>
            <a:r>
              <a:t>   • results/drawdown_curve.png        - Drawdown visualization</a:t>
            </a:r>
          </a:p>
          <a:p>
            <a:pPr>
              <a:spcAft>
                <a:spcPts val="600"/>
              </a:spcAft>
              <a:defRPr sz="1400"/>
            </a:pPr>
            <a:r>
              <a:t>   • results/monthly_profit_chart.png  - Monthly performance</a:t>
            </a:r>
          </a:p>
          <a:p>
            <a:pPr>
              <a:spcAft>
                <a:spcPts val="600"/>
              </a:spcAft>
              <a:defRPr sz="1400"/>
            </a:pPr>
            <a:r>
              <a:t>   • results/profit_distribution.png   - Trade profit histogram</a:t>
            </a:r>
          </a:p>
          <a:p>
            <a:pPr>
              <a:spcAft>
                <a:spcPts val="600"/>
              </a:spcAft>
              <a:defRPr sz="1400"/>
            </a:pPr>
            <a:r>
              <a:t>   • results/backtest_profit_chart.png - Backtest results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📈 DATA / REPORTS</a:t>
            </a:r>
          </a:p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  <a:r>
              <a:t>   • trade_logs/trade_logs.csv         - 86 recent trades</a:t>
            </a:r>
          </a:p>
          <a:p>
            <a:pPr>
              <a:spcAft>
                <a:spcPts val="600"/>
              </a:spcAft>
              <a:defRPr sz="1400"/>
            </a:pPr>
            <a:r>
              <a:t>   • walk_forward_results.csv          - 102 folds data</a:t>
            </a:r>
          </a:p>
          <a:p>
            <a:pPr>
              <a:spcAft>
                <a:spcPts val="600"/>
              </a:spcAft>
              <a:defRPr sz="1400"/>
            </a:pPr>
            <a:r>
              <a:t>   • backtest_optimization_results.csv - Parameter optimization</a:t>
            </a:r>
          </a:p>
          <a:p>
            <a:pPr>
              <a:spcAft>
                <a:spcPts val="600"/>
              </a:spcAft>
              <a:defRPr sz="1400"/>
            </a:pPr>
            <a:r>
              <a:t>   • results/quant_performance_report.md - Full report</a:t>
            </a:r>
          </a:p>
          <a:p>
            <a:pPr>
              <a:spcAft>
                <a:spcPts val="600"/>
              </a:spcAft>
              <a:defRPr sz="1400"/>
            </a:pPr>
            <a:r>
              <a:t>   • outputs/predictions.csv           - Model predictions</a:t>
            </a:r>
          </a:p>
          <a:p>
            <a:pPr>
              <a:spcAft>
                <a:spcPts val="600"/>
              </a:spcAft>
              <a:defRPr sz="1400"/>
            </a:pPr>
            <a:r>
              <a:t>   • outputs/trades.csv                - Trade 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⚠️ Important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━━━━━━━━━━━━━━━━━━━━━━━━━━━━━━━━━━━━━━━━━━━━━━━━━━━━━━━━━━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This report is based on historical backtesting and paper</a:t>
            </a:r>
          </a:p>
          <a:p>
            <a:pPr>
              <a:spcAft>
                <a:spcPts val="600"/>
              </a:spcAft>
              <a:defRPr sz="1400"/>
            </a:pPr>
            <a:r>
              <a:t>   trading simulation covering the period January-March 2026.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📌 PAST PERFORMANCE DOES NOT GUARANTEE FUTURE RESULTS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The strategy currently shows:</a:t>
            </a:r>
          </a:p>
          <a:p>
            <a:pPr>
              <a:spcAft>
                <a:spcPts val="600"/>
              </a:spcAft>
              <a:defRPr sz="1400"/>
            </a:pPr>
            <a:r>
              <a:t>   • Significant drawdown (-8,865)</a:t>
            </a:r>
          </a:p>
          <a:p>
            <a:pPr>
              <a:spcAft>
                <a:spcPts val="600"/>
              </a:spcAft>
              <a:defRPr sz="1400"/>
            </a:pPr>
            <a:r>
              <a:t>   • Negative Sharpe ratio (-0.26)</a:t>
            </a:r>
          </a:p>
          <a:p>
            <a:pPr>
              <a:spcAft>
                <a:spcPts val="600"/>
              </a:spcAft>
              <a:defRPr sz="1400"/>
            </a:pPr>
            <a:r>
              <a:t>   • Low win rate (23.3%)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NOT FINANCIAL ADVICE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This document is for research, learning, and portfolio</a:t>
            </a:r>
          </a:p>
          <a:p>
            <a:pPr>
              <a:spcAft>
                <a:spcPts val="600"/>
              </a:spcAft>
              <a:defRPr sz="1400"/>
            </a:pPr>
            <a:r>
              <a:t>   purposes only. Do not deploy live capital without</a:t>
            </a:r>
          </a:p>
          <a:p>
            <a:pPr>
              <a:spcAft>
                <a:spcPts val="600"/>
              </a:spcAft>
              <a:defRPr sz="1400"/>
            </a:pPr>
            <a:r>
              <a:t>   extensive paper trading and professional risk assessment.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━━━━━━━━━━━━━━━━━━━━━━━━━━━━━━━━━━━━━━━━━━━━━━━━━━━━━━━━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   Strategy Version: v2.1 | Walk-Forward Folds: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June 12,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